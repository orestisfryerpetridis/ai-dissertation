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57" r:id="rId3"/>
    <p:sldId id="262" r:id="rId4"/>
    <p:sldId id="264" r:id="rId5"/>
    <p:sldId id="292" r:id="rId6"/>
    <p:sldId id="269" r:id="rId7"/>
    <p:sldId id="271" r:id="rId8"/>
    <p:sldId id="267" r:id="rId9"/>
    <p:sldId id="277" r:id="rId10"/>
    <p:sldId id="278" r:id="rId11"/>
    <p:sldId id="270" r:id="rId12"/>
    <p:sldId id="268" r:id="rId13"/>
    <p:sldId id="279" r:id="rId14"/>
    <p:sldId id="273" r:id="rId15"/>
    <p:sldId id="274" r:id="rId16"/>
    <p:sldId id="265" r:id="rId17"/>
    <p:sldId id="275" r:id="rId18"/>
    <p:sldId id="258" r:id="rId19"/>
    <p:sldId id="293" r:id="rId20"/>
    <p:sldId id="294" r:id="rId21"/>
    <p:sldId id="261" r:id="rId22"/>
    <p:sldId id="285" r:id="rId23"/>
    <p:sldId id="286" r:id="rId24"/>
    <p:sldId id="263" r:id="rId25"/>
    <p:sldId id="282" r:id="rId26"/>
    <p:sldId id="287" r:id="rId27"/>
    <p:sldId id="280" r:id="rId28"/>
    <p:sldId id="288" r:id="rId29"/>
    <p:sldId id="290" r:id="rId30"/>
    <p:sldId id="289" r:id="rId31"/>
    <p:sldId id="291" r:id="rId32"/>
    <p:sldId id="259" r:id="rId33"/>
    <p:sldId id="295" r:id="rId34"/>
    <p:sldId id="260" r:id="rId35"/>
    <p:sldId id="272"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FFA09C-675E-0C90-A097-78B8C96325DC}" v="94" dt="2024-06-06T07:42:54.819"/>
    <p1510:client id="{38F37656-CA5F-93EE-57F8-2AEA68411622}" v="1869" dt="2024-06-06T00:07:56.384"/>
    <p1510:client id="{4F819DFD-2A88-66C2-E936-F8C99284EC4F}" v="679" dt="2024-06-05T19:25:41.944"/>
    <p1510:client id="{DA67E20F-19A5-E338-0305-10B0B122A0B4}" v="82" dt="2024-06-05T19:20:44.245"/>
    <p1510:client id="{EA2F0137-564C-ECDA-C8DE-EB4C509BFB3C}" v="1545" dt="2024-06-06T01:23:28.9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p>
            <a:fld id="{4BDF68E2-58F2-4D09-BE8B-E3BD06533059}" type="datetimeFigureOut">
              <a:rPr lang="en-US" dirty="0"/>
              <a:t>6/6/2024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1408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28FC5F6-F338-4AE4-BB23-26385BCFC423}" type="datetimeFigureOut">
              <a:rPr lang="en-US" dirty="0"/>
              <a:t>6/6/2024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a:p>
        </p:txBody>
      </p:sp>
    </p:spTree>
    <p:extLst>
      <p:ext uri="{BB962C8B-B14F-4D97-AF65-F5344CB8AC3E}">
        <p14:creationId xmlns:p14="http://schemas.microsoft.com/office/powerpoint/2010/main" val="2021709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dirty="0"/>
              <a:t>6/6/2024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24450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9AB4D41-86C1-4908-B66A-0B50CEB3BF29}" type="datetimeFigureOut">
              <a:rPr lang="en-US" dirty="0"/>
              <a:t>6/6/2024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372887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6426E2C-56C1-4E0D-A793-0088A7FDD37E}" type="datetimeFigureOut">
              <a:rPr lang="en-US" dirty="0"/>
              <a:t>6/6/2024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401854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8C39B41-D8B5-4052-B551-9B5525EAA8B6}" type="datetimeFigureOut">
              <a:rPr lang="en-US" dirty="0"/>
              <a:t>6/6/2024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57054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dirty="0"/>
              <a:t>6/6/2024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2344052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dirty="0"/>
              <a:t>6/6/2024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a:p>
        </p:txBody>
      </p:sp>
    </p:spTree>
    <p:extLst>
      <p:ext uri="{BB962C8B-B14F-4D97-AF65-F5344CB8AC3E}">
        <p14:creationId xmlns:p14="http://schemas.microsoft.com/office/powerpoint/2010/main" val="1424591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dirty="0"/>
              <a:t>6/6/2024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154166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2D6473-DF6D-4702-B328-E0DD40540A4E}" type="datetimeFigureOut">
              <a:rPr lang="en-US" dirty="0"/>
              <a:t>6/6/2024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4064696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6F7E3A-B166-407D-9866-32884E7D5B37}" type="datetimeFigureOut">
              <a:rPr lang="en-US" dirty="0"/>
              <a:t>6/6/2024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65790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dirty="0"/>
              <a:t>6/6/2024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322785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ea typeface="+mj-lt"/>
                <a:cs typeface="+mj-lt"/>
              </a:rPr>
              <a:t>Detect generated text from ChatGPT</a:t>
            </a:r>
            <a:endParaRPr lang="en-US"/>
          </a:p>
        </p:txBody>
      </p:sp>
      <p:sp>
        <p:nvSpPr>
          <p:cNvPr id="3" name="Subtitle 2"/>
          <p:cNvSpPr>
            <a:spLocks noGrp="1"/>
          </p:cNvSpPr>
          <p:nvPr>
            <p:ph type="subTitle" idx="1"/>
          </p:nvPr>
        </p:nvSpPr>
        <p:spPr/>
        <p:txBody>
          <a:bodyPr vert="horz" lIns="91440" tIns="45720" rIns="91440" bIns="45720" rtlCol="0" anchor="t">
            <a:normAutofit/>
          </a:bodyPr>
          <a:lstStyle/>
          <a:p>
            <a:r>
              <a:rPr lang="en-US"/>
              <a:t>By Orestis Fryer-Petridis</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7284A-B98D-9E99-5832-C75D6E1E41BF}"/>
              </a:ext>
            </a:extLst>
          </p:cNvPr>
          <p:cNvSpPr>
            <a:spLocks noGrp="1"/>
          </p:cNvSpPr>
          <p:nvPr>
            <p:ph type="title"/>
          </p:nvPr>
        </p:nvSpPr>
        <p:spPr/>
        <p:txBody>
          <a:bodyPr/>
          <a:lstStyle/>
          <a:p>
            <a:r>
              <a:rPr lang="en-US">
                <a:ea typeface="+mj-lt"/>
                <a:cs typeface="+mj-lt"/>
              </a:rPr>
              <a:t>Project Introduction</a:t>
            </a:r>
            <a:endParaRPr lang="en-US">
              <a:ea typeface="Calibri Light"/>
              <a:cs typeface="Calibri Light"/>
            </a:endParaRPr>
          </a:p>
        </p:txBody>
      </p:sp>
      <p:sp>
        <p:nvSpPr>
          <p:cNvPr id="3" name="Content Placeholder 2">
            <a:extLst>
              <a:ext uri="{FF2B5EF4-FFF2-40B4-BE49-F238E27FC236}">
                <a16:creationId xmlns:a16="http://schemas.microsoft.com/office/drawing/2014/main" id="{34337798-B23D-B338-C201-64EC26CCFA46}"/>
              </a:ext>
            </a:extLst>
          </p:cNvPr>
          <p:cNvSpPr>
            <a:spLocks noGrp="1"/>
          </p:cNvSpPr>
          <p:nvPr>
            <p:ph idx="1"/>
          </p:nvPr>
        </p:nvSpPr>
        <p:spPr/>
        <p:txBody>
          <a:bodyPr vert="horz" lIns="0" tIns="45720" rIns="0" bIns="45720" rtlCol="0" anchor="t">
            <a:normAutofit/>
          </a:bodyPr>
          <a:lstStyle/>
          <a:p>
            <a:pPr marL="0" indent="0">
              <a:buNone/>
            </a:pPr>
            <a:r>
              <a:rPr lang="en-US" dirty="0">
                <a:ea typeface="+mn-lt"/>
                <a:cs typeface="+mn-lt"/>
              </a:rPr>
              <a:t>AI-generated content is becoming more commonly used in many areas. Many of these applications are beneficial, like medical chatbots that help speed up workflow; however, this is not true in all cases. Some bad actors take advantage of this technology to deceive others.</a:t>
            </a:r>
            <a:endParaRPr lang="en-US" dirty="0"/>
          </a:p>
          <a:p>
            <a:pPr>
              <a:buFont typeface="Arial" panose="020F0502020204030204" pitchFamily="34" charset="0"/>
              <a:buChar char="•"/>
            </a:pPr>
            <a:endParaRPr lang="en-US">
              <a:cs typeface="Calibri"/>
            </a:endParaRPr>
          </a:p>
          <a:p>
            <a:pPr marL="0" indent="0">
              <a:buNone/>
            </a:pPr>
            <a:r>
              <a:rPr lang="en-US" dirty="0">
                <a:cs typeface="Calibri"/>
              </a:rPr>
              <a:t>Applications for the detection of AI generated text:</a:t>
            </a:r>
            <a:endParaRPr lang="en-US" dirty="0">
              <a:ea typeface="Calibri"/>
              <a:cs typeface="Calibri"/>
            </a:endParaRPr>
          </a:p>
          <a:p>
            <a:pPr marL="342900" indent="-342900">
              <a:buFont typeface="Arial"/>
              <a:buChar char="•"/>
            </a:pPr>
            <a:r>
              <a:rPr lang="en-US" dirty="0">
                <a:cs typeface="Calibri"/>
              </a:rPr>
              <a:t>AI plagiarism Detection</a:t>
            </a:r>
            <a:endParaRPr lang="en-US" dirty="0">
              <a:ea typeface="Calibri"/>
              <a:cs typeface="Calibri"/>
            </a:endParaRPr>
          </a:p>
          <a:p>
            <a:pPr marL="342900" indent="-342900">
              <a:buFont typeface="Arial"/>
              <a:buChar char="•"/>
            </a:pPr>
            <a:r>
              <a:rPr lang="en-US" dirty="0">
                <a:ea typeface="+mn-lt"/>
                <a:cs typeface="+mn-lt"/>
              </a:rPr>
              <a:t>LLM Phishing Techniques Detection</a:t>
            </a:r>
          </a:p>
          <a:p>
            <a:pPr marL="342900" indent="-342900">
              <a:buFont typeface="Arial"/>
              <a:buChar char="•"/>
            </a:pPr>
            <a:r>
              <a:rPr lang="en-US" dirty="0">
                <a:ea typeface="+mn-lt"/>
                <a:cs typeface="+mn-lt"/>
              </a:rPr>
              <a:t>Social Media Bot Detection</a:t>
            </a:r>
          </a:p>
          <a:p>
            <a:pPr marL="342900" indent="-342900">
              <a:buFont typeface="Arial"/>
              <a:buChar char="•"/>
            </a:pPr>
            <a:endParaRPr lang="en-US">
              <a:cs typeface="Calibri"/>
            </a:endParaRPr>
          </a:p>
          <a:p>
            <a:pPr marL="342900" indent="-342900">
              <a:buFont typeface="Arial"/>
              <a:buChar char="•"/>
            </a:pPr>
            <a:endParaRPr lang="en-US">
              <a:cs typeface="Calibri"/>
            </a:endParaRPr>
          </a:p>
        </p:txBody>
      </p:sp>
    </p:spTree>
    <p:extLst>
      <p:ext uri="{BB962C8B-B14F-4D97-AF65-F5344CB8AC3E}">
        <p14:creationId xmlns:p14="http://schemas.microsoft.com/office/powerpoint/2010/main" val="2601256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9BA0F-8F93-A535-0446-5A7EB399C163}"/>
              </a:ext>
            </a:extLst>
          </p:cNvPr>
          <p:cNvSpPr>
            <a:spLocks noGrp="1"/>
          </p:cNvSpPr>
          <p:nvPr>
            <p:ph type="title"/>
          </p:nvPr>
        </p:nvSpPr>
        <p:spPr/>
        <p:txBody>
          <a:bodyPr/>
          <a:lstStyle/>
          <a:p>
            <a:r>
              <a:rPr lang="en-US">
                <a:ea typeface="Calibri Light"/>
                <a:cs typeface="Calibri Light"/>
              </a:rPr>
              <a:t>Objectives</a:t>
            </a:r>
            <a:endParaRPr lang="en-US">
              <a:solidFill>
                <a:srgbClr val="000000"/>
              </a:solidFill>
              <a:ea typeface="Calibri Light"/>
              <a:cs typeface="Calibri Light"/>
            </a:endParaRPr>
          </a:p>
        </p:txBody>
      </p:sp>
      <p:sp>
        <p:nvSpPr>
          <p:cNvPr id="3" name="Content Placeholder 2">
            <a:extLst>
              <a:ext uri="{FF2B5EF4-FFF2-40B4-BE49-F238E27FC236}">
                <a16:creationId xmlns:a16="http://schemas.microsoft.com/office/drawing/2014/main" id="{0700DAAE-909B-D23A-6F20-68F8F7AC5869}"/>
              </a:ext>
            </a:extLst>
          </p:cNvPr>
          <p:cNvSpPr>
            <a:spLocks noGrp="1"/>
          </p:cNvSpPr>
          <p:nvPr>
            <p:ph idx="1"/>
          </p:nvPr>
        </p:nvSpPr>
        <p:spPr/>
        <p:txBody>
          <a:bodyPr vert="horz" lIns="0" tIns="45720" rIns="0" bIns="45720" rtlCol="0" anchor="t">
            <a:normAutofit/>
          </a:bodyPr>
          <a:lstStyle/>
          <a:p>
            <a:r>
              <a:rPr lang="en-US">
                <a:ea typeface="+mn-lt"/>
                <a:cs typeface="+mn-lt"/>
              </a:rPr>
              <a:t>This project aims to develop AI techniques to identify AI-generated text from large</a:t>
            </a:r>
          </a:p>
          <a:p>
            <a:r>
              <a:rPr lang="en-US">
                <a:ea typeface="+mn-lt"/>
                <a:cs typeface="+mn-lt"/>
              </a:rPr>
              <a:t>language models</a:t>
            </a:r>
            <a:endParaRPr lang="en-US"/>
          </a:p>
          <a:p>
            <a:endParaRPr lang="en-US">
              <a:ea typeface="+mn-lt"/>
              <a:cs typeface="+mn-lt"/>
            </a:endParaRPr>
          </a:p>
          <a:p>
            <a:r>
              <a:rPr lang="en-US">
                <a:ea typeface="+mn-lt"/>
                <a:cs typeface="+mn-lt"/>
              </a:rPr>
              <a:t>The established goals for the project are as follows:</a:t>
            </a:r>
            <a:endParaRPr lang="en-US">
              <a:cs typeface="Calibri"/>
            </a:endParaRPr>
          </a:p>
          <a:p>
            <a:r>
              <a:rPr lang="en-US">
                <a:ea typeface="+mn-lt"/>
                <a:cs typeface="+mn-lt"/>
              </a:rPr>
              <a:t>1. Develop a method to identify AI-generated text using a similarity metric</a:t>
            </a:r>
          </a:p>
          <a:p>
            <a:r>
              <a:rPr lang="en-US">
                <a:ea typeface="+mn-lt"/>
                <a:cs typeface="+mn-lt"/>
              </a:rPr>
              <a:t>2. Use Retrieval-Augmented Generation based responses</a:t>
            </a:r>
          </a:p>
          <a:p>
            <a:r>
              <a:rPr lang="en-US">
                <a:ea typeface="+mn-lt"/>
                <a:cs typeface="+mn-lt"/>
              </a:rPr>
              <a:t>3. Implement these methods</a:t>
            </a:r>
          </a:p>
          <a:p>
            <a:r>
              <a:rPr lang="en-US">
                <a:ea typeface="+mn-lt"/>
                <a:cs typeface="+mn-lt"/>
              </a:rPr>
              <a:t>4. Evaluate the success of the methods</a:t>
            </a:r>
          </a:p>
          <a:p>
            <a:r>
              <a:rPr lang="en-US">
                <a:ea typeface="+mn-lt"/>
                <a:cs typeface="+mn-lt"/>
              </a:rPr>
              <a:t>5. Produce a report on the findings of the methods</a:t>
            </a:r>
          </a:p>
        </p:txBody>
      </p:sp>
    </p:spTree>
    <p:extLst>
      <p:ext uri="{BB962C8B-B14F-4D97-AF65-F5344CB8AC3E}">
        <p14:creationId xmlns:p14="http://schemas.microsoft.com/office/powerpoint/2010/main" val="2839479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4D79F-065D-2733-DBDE-154E662927E4}"/>
              </a:ext>
            </a:extLst>
          </p:cNvPr>
          <p:cNvSpPr>
            <a:spLocks noGrp="1"/>
          </p:cNvSpPr>
          <p:nvPr>
            <p:ph type="title"/>
          </p:nvPr>
        </p:nvSpPr>
        <p:spPr/>
        <p:txBody>
          <a:bodyPr/>
          <a:lstStyle/>
          <a:p>
            <a:r>
              <a:rPr lang="en-US">
                <a:ea typeface="+mj-lt"/>
                <a:cs typeface="+mj-lt"/>
              </a:rPr>
              <a:t>Planning</a:t>
            </a:r>
            <a:endParaRPr lang="en-US"/>
          </a:p>
        </p:txBody>
      </p:sp>
      <p:sp>
        <p:nvSpPr>
          <p:cNvPr id="3" name="Content Placeholder 2">
            <a:extLst>
              <a:ext uri="{FF2B5EF4-FFF2-40B4-BE49-F238E27FC236}">
                <a16:creationId xmlns:a16="http://schemas.microsoft.com/office/drawing/2014/main" id="{0EB92D2A-DCAB-8D6C-5026-59C24DD4324D}"/>
              </a:ext>
            </a:extLst>
          </p:cNvPr>
          <p:cNvSpPr>
            <a:spLocks noGrp="1"/>
          </p:cNvSpPr>
          <p:nvPr>
            <p:ph idx="1"/>
          </p:nvPr>
        </p:nvSpPr>
        <p:spPr/>
        <p:txBody>
          <a:bodyPr vert="horz" lIns="0" tIns="45720" rIns="0" bIns="45720" rtlCol="0" anchor="t">
            <a:normAutofit/>
          </a:bodyPr>
          <a:lstStyle/>
          <a:p>
            <a:r>
              <a:rPr lang="en-US">
                <a:solidFill>
                  <a:srgbClr val="0E101A"/>
                </a:solidFill>
                <a:ea typeface="+mn-lt"/>
                <a:cs typeface="+mn-lt"/>
              </a:rPr>
              <a:t>Identifying current LLM detection methods </a:t>
            </a:r>
            <a:endParaRPr lang="en-US">
              <a:cs typeface="Calibri"/>
            </a:endParaRPr>
          </a:p>
          <a:p>
            <a:endParaRPr lang="en-US"/>
          </a:p>
          <a:p>
            <a:r>
              <a:rPr lang="en-US">
                <a:solidFill>
                  <a:srgbClr val="0E101A"/>
                </a:solidFill>
                <a:ea typeface="+mn-lt"/>
                <a:cs typeface="+mn-lt"/>
              </a:rPr>
              <a:t>Identifying a LLM to implement</a:t>
            </a:r>
            <a:endParaRPr lang="en-US"/>
          </a:p>
          <a:p>
            <a:endParaRPr lang="en-US"/>
          </a:p>
          <a:p>
            <a:r>
              <a:rPr lang="en-US">
                <a:solidFill>
                  <a:srgbClr val="404040"/>
                </a:solidFill>
                <a:ea typeface="+mn-lt"/>
                <a:cs typeface="+mn-lt"/>
              </a:rPr>
              <a:t>Investigating different libraries </a:t>
            </a:r>
          </a:p>
          <a:p>
            <a:endParaRPr lang="en-US">
              <a:solidFill>
                <a:srgbClr val="404040"/>
              </a:solidFill>
              <a:ea typeface="+mn-lt"/>
              <a:cs typeface="+mn-lt"/>
            </a:endParaRPr>
          </a:p>
          <a:p>
            <a:r>
              <a:rPr lang="en-US">
                <a:solidFill>
                  <a:srgbClr val="0E101A"/>
                </a:solidFill>
                <a:ea typeface="+mn-lt"/>
                <a:cs typeface="+mn-lt"/>
              </a:rPr>
              <a:t>Identifying different parameters that could lead to different results</a:t>
            </a:r>
            <a:endParaRPr lang="en-US">
              <a:solidFill>
                <a:srgbClr val="404040"/>
              </a:solidFill>
              <a:ea typeface="+mn-lt"/>
              <a:cs typeface="+mn-lt"/>
            </a:endParaRPr>
          </a:p>
        </p:txBody>
      </p:sp>
    </p:spTree>
    <p:extLst>
      <p:ext uri="{BB962C8B-B14F-4D97-AF65-F5344CB8AC3E}">
        <p14:creationId xmlns:p14="http://schemas.microsoft.com/office/powerpoint/2010/main" val="2681596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7C328-7AF9-5736-0703-6074E1BDB185}"/>
              </a:ext>
            </a:extLst>
          </p:cNvPr>
          <p:cNvSpPr>
            <a:spLocks noGrp="1"/>
          </p:cNvSpPr>
          <p:nvPr>
            <p:ph type="title"/>
          </p:nvPr>
        </p:nvSpPr>
        <p:spPr/>
        <p:txBody>
          <a:bodyPr/>
          <a:lstStyle/>
          <a:p>
            <a:r>
              <a:rPr lang="en-US" dirty="0">
                <a:ea typeface="Calibri Light"/>
                <a:cs typeface="Calibri Light"/>
              </a:rPr>
              <a:t>Large Language Models Landscape</a:t>
            </a:r>
            <a:endParaRPr lang="en-US" dirty="0"/>
          </a:p>
        </p:txBody>
      </p:sp>
      <p:sp>
        <p:nvSpPr>
          <p:cNvPr id="3" name="Content Placeholder 2">
            <a:extLst>
              <a:ext uri="{FF2B5EF4-FFF2-40B4-BE49-F238E27FC236}">
                <a16:creationId xmlns:a16="http://schemas.microsoft.com/office/drawing/2014/main" id="{72C5A08B-FC7B-6FDA-0ABC-7D42CBF48A8A}"/>
              </a:ext>
            </a:extLst>
          </p:cNvPr>
          <p:cNvSpPr>
            <a:spLocks noGrp="1"/>
          </p:cNvSpPr>
          <p:nvPr>
            <p:ph idx="1"/>
          </p:nvPr>
        </p:nvSpPr>
        <p:spPr>
          <a:xfrm>
            <a:off x="1097280" y="1845734"/>
            <a:ext cx="4484512" cy="4023360"/>
          </a:xfrm>
        </p:spPr>
        <p:txBody>
          <a:bodyPr vert="horz" lIns="0" tIns="45720" rIns="0" bIns="45720" rtlCol="0" anchor="t">
            <a:normAutofit/>
          </a:bodyPr>
          <a:lstStyle/>
          <a:p>
            <a:pPr marL="0" indent="0">
              <a:buNone/>
            </a:pPr>
            <a:r>
              <a:rPr lang="en-US" dirty="0">
                <a:ea typeface="+mn-lt"/>
                <a:cs typeface="+mn-lt"/>
              </a:rPr>
              <a:t>Large Language Models of note in 2024:</a:t>
            </a:r>
            <a:endParaRPr lang="en-US" dirty="0"/>
          </a:p>
          <a:p>
            <a:pPr marL="342900" indent="-342900">
              <a:buFont typeface="Arial" panose="020F0502020204030204" pitchFamily="34" charset="0"/>
              <a:buChar char="•"/>
            </a:pPr>
            <a:r>
              <a:rPr lang="en-US" dirty="0">
                <a:ea typeface="Calibri" panose="020F0502020204030204"/>
                <a:cs typeface="Calibri" panose="020F0502020204030204"/>
              </a:rPr>
              <a:t>OpenAI (GPT models)</a:t>
            </a:r>
          </a:p>
          <a:p>
            <a:pPr marL="342900" indent="-342900">
              <a:buFont typeface="Arial" panose="020F0502020204030204" pitchFamily="34" charset="0"/>
              <a:buChar char="•"/>
            </a:pPr>
            <a:r>
              <a:rPr lang="en-US" dirty="0">
                <a:ea typeface="Calibri" panose="020F0502020204030204"/>
                <a:cs typeface="Calibri" panose="020F0502020204030204"/>
              </a:rPr>
              <a:t>Bard/Gemini (Google)</a:t>
            </a:r>
          </a:p>
          <a:p>
            <a:pPr marL="342900" indent="-342900">
              <a:buFont typeface="Arial" panose="020F0502020204030204" pitchFamily="34" charset="0"/>
              <a:buChar char="•"/>
            </a:pPr>
            <a:r>
              <a:rPr lang="en-US" err="1">
                <a:ea typeface="Calibri" panose="020F0502020204030204"/>
                <a:cs typeface="Calibri" panose="020F0502020204030204"/>
              </a:rPr>
              <a:t>LLaMA</a:t>
            </a:r>
            <a:r>
              <a:rPr lang="en-US" dirty="0">
                <a:ea typeface="Calibri" panose="020F0502020204030204"/>
                <a:cs typeface="Calibri" panose="020F0502020204030204"/>
              </a:rPr>
              <a:t> (Meta AI)</a:t>
            </a:r>
          </a:p>
          <a:p>
            <a:pPr marL="342900" indent="-342900">
              <a:buFont typeface="Arial" panose="020F0502020204030204" pitchFamily="34" charset="0"/>
              <a:buChar char="•"/>
            </a:pPr>
            <a:r>
              <a:rPr lang="en-US" dirty="0">
                <a:ea typeface="+mn-lt"/>
                <a:cs typeface="+mn-lt"/>
              </a:rPr>
              <a:t>Microsoft Copilot (Microsoft)</a:t>
            </a:r>
          </a:p>
        </p:txBody>
      </p:sp>
      <p:pic>
        <p:nvPicPr>
          <p:cNvPr id="5" name="Picture 4" descr="A diagram of a language model&#10;&#10;Description automatically generated">
            <a:extLst>
              <a:ext uri="{FF2B5EF4-FFF2-40B4-BE49-F238E27FC236}">
                <a16:creationId xmlns:a16="http://schemas.microsoft.com/office/drawing/2014/main" id="{54AA144A-DFC3-42AD-54A9-F0AD6187CA3C}"/>
              </a:ext>
            </a:extLst>
          </p:cNvPr>
          <p:cNvPicPr>
            <a:picLocks noChangeAspect="1"/>
          </p:cNvPicPr>
          <p:nvPr/>
        </p:nvPicPr>
        <p:blipFill>
          <a:blip r:embed="rId2"/>
          <a:stretch>
            <a:fillRect/>
          </a:stretch>
        </p:blipFill>
        <p:spPr>
          <a:xfrm>
            <a:off x="5575793" y="1752600"/>
            <a:ext cx="5824081" cy="4262967"/>
          </a:xfrm>
          <a:prstGeom prst="rect">
            <a:avLst/>
          </a:prstGeom>
        </p:spPr>
      </p:pic>
      <p:sp>
        <p:nvSpPr>
          <p:cNvPr id="6" name="TextBox 5">
            <a:extLst>
              <a:ext uri="{FF2B5EF4-FFF2-40B4-BE49-F238E27FC236}">
                <a16:creationId xmlns:a16="http://schemas.microsoft.com/office/drawing/2014/main" id="{0D6435AE-81A3-91F9-3DAF-402C73208736}"/>
              </a:ext>
            </a:extLst>
          </p:cNvPr>
          <p:cNvSpPr txBox="1"/>
          <p:nvPr/>
        </p:nvSpPr>
        <p:spPr>
          <a:xfrm>
            <a:off x="5881511" y="5733344"/>
            <a:ext cx="522675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dirty="0">
                <a:solidFill>
                  <a:srgbClr val="404040"/>
                </a:solidFill>
              </a:rPr>
              <a:t>Popular Large Language Models in 2024 from </a:t>
            </a:r>
            <a:r>
              <a:rPr lang="en-US" sz="1600" dirty="0" err="1">
                <a:solidFill>
                  <a:srgbClr val="404040"/>
                </a:solidFill>
              </a:rPr>
              <a:t>Intelliarts</a:t>
            </a:r>
            <a:r>
              <a:rPr lang="en-US" sz="1600" dirty="0">
                <a:solidFill>
                  <a:srgbClr val="404040"/>
                </a:solidFill>
              </a:rPr>
              <a:t> Top 11 Large Language Models of 2024 (2024)</a:t>
            </a:r>
            <a:endParaRPr lang="en-US" sz="1600">
              <a:ea typeface="Calibri" panose="020F0502020204030204"/>
              <a:cs typeface="Calibri" panose="020F0502020204030204"/>
            </a:endParaRPr>
          </a:p>
        </p:txBody>
      </p:sp>
    </p:spTree>
    <p:extLst>
      <p:ext uri="{BB962C8B-B14F-4D97-AF65-F5344CB8AC3E}">
        <p14:creationId xmlns:p14="http://schemas.microsoft.com/office/powerpoint/2010/main" val="3004543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41055-024C-AF77-8572-BDE3C7F16F4E}"/>
              </a:ext>
            </a:extLst>
          </p:cNvPr>
          <p:cNvSpPr>
            <a:spLocks noGrp="1"/>
          </p:cNvSpPr>
          <p:nvPr>
            <p:ph type="title"/>
          </p:nvPr>
        </p:nvSpPr>
        <p:spPr/>
        <p:txBody>
          <a:bodyPr/>
          <a:lstStyle/>
          <a:p>
            <a:r>
              <a:rPr lang="en-US">
                <a:cs typeface="Calibri Light"/>
              </a:rPr>
              <a:t>LLM Detection</a:t>
            </a:r>
            <a:endParaRPr lang="en-US"/>
          </a:p>
        </p:txBody>
      </p:sp>
      <p:sp>
        <p:nvSpPr>
          <p:cNvPr id="3" name="Content Placeholder 2">
            <a:extLst>
              <a:ext uri="{FF2B5EF4-FFF2-40B4-BE49-F238E27FC236}">
                <a16:creationId xmlns:a16="http://schemas.microsoft.com/office/drawing/2014/main" id="{B503BEDA-602C-994F-0B08-A35585EA3B79}"/>
              </a:ext>
            </a:extLst>
          </p:cNvPr>
          <p:cNvSpPr>
            <a:spLocks noGrp="1"/>
          </p:cNvSpPr>
          <p:nvPr>
            <p:ph idx="1"/>
          </p:nvPr>
        </p:nvSpPr>
        <p:spPr/>
        <p:txBody>
          <a:bodyPr vert="horz" lIns="0" tIns="45720" rIns="0" bIns="45720" rtlCol="0" anchor="t">
            <a:normAutofit/>
          </a:bodyPr>
          <a:lstStyle/>
          <a:p>
            <a:pPr marL="0" indent="0">
              <a:buNone/>
            </a:pPr>
            <a:r>
              <a:rPr lang="en-US" dirty="0">
                <a:ea typeface="+mn-lt"/>
                <a:cs typeface="+mn-lt"/>
              </a:rPr>
              <a:t>Research into current detection methods for AI and plagiarism is essential to complete the project.</a:t>
            </a:r>
          </a:p>
          <a:p>
            <a:pPr marL="0" indent="0">
              <a:buNone/>
            </a:pPr>
            <a:endParaRPr lang="en-US" dirty="0">
              <a:cs typeface="Calibri" panose="020F0502020204030204"/>
            </a:endParaRPr>
          </a:p>
          <a:p>
            <a:pPr marL="0" indent="0">
              <a:buNone/>
            </a:pPr>
            <a:r>
              <a:rPr lang="en-US" dirty="0">
                <a:cs typeface="Calibri" panose="020F0502020204030204"/>
              </a:rPr>
              <a:t>Some popular methods:</a:t>
            </a:r>
            <a:endParaRPr lang="en-US">
              <a:ea typeface="Calibri"/>
              <a:cs typeface="Calibri" panose="020F0502020204030204"/>
            </a:endParaRPr>
          </a:p>
          <a:p>
            <a:pPr>
              <a:buFont typeface="Arial" panose="020F0502020204030204" pitchFamily="34" charset="0"/>
              <a:buChar char="•"/>
            </a:pPr>
            <a:r>
              <a:rPr lang="en-US" dirty="0">
                <a:ea typeface="+mn-lt"/>
                <a:cs typeface="+mn-lt"/>
              </a:rPr>
              <a:t> General Pattern Analysis</a:t>
            </a:r>
          </a:p>
          <a:p>
            <a:pPr>
              <a:buFont typeface="Arial" panose="020F0502020204030204" pitchFamily="34" charset="0"/>
              <a:buChar char="•"/>
            </a:pPr>
            <a:r>
              <a:rPr lang="en-US" dirty="0">
                <a:ea typeface="+mn-lt"/>
                <a:cs typeface="+mn-lt"/>
              </a:rPr>
              <a:t> Web content comparison</a:t>
            </a:r>
          </a:p>
          <a:p>
            <a:pPr>
              <a:buFont typeface="Arial" panose="020F0502020204030204" pitchFamily="34" charset="0"/>
              <a:buChar char="•"/>
            </a:pPr>
            <a:r>
              <a:rPr lang="en-US" dirty="0">
                <a:ea typeface="+mn-lt"/>
                <a:cs typeface="+mn-lt"/>
              </a:rPr>
              <a:t> Compares semantic consistency and structure</a:t>
            </a:r>
          </a:p>
          <a:p>
            <a:pPr>
              <a:buFont typeface="Arial" panose="020F0502020204030204" pitchFamily="34" charset="0"/>
              <a:buChar char="•"/>
            </a:pPr>
            <a:endParaRPr lang="en-US" dirty="0">
              <a:ea typeface="+mn-lt"/>
              <a:cs typeface="+mn-lt"/>
            </a:endParaRPr>
          </a:p>
          <a:p>
            <a:pPr>
              <a:buNone/>
            </a:pPr>
            <a:r>
              <a:rPr lang="en-US" dirty="0">
                <a:ea typeface="+mn-lt"/>
                <a:cs typeface="+mn-lt"/>
              </a:rPr>
              <a:t>Natural Language Processing techniques are very popular in most of these.</a:t>
            </a:r>
            <a:endParaRPr lang="en-US" dirty="0">
              <a:solidFill>
                <a:srgbClr val="000000"/>
              </a:solidFill>
              <a:ea typeface="+mn-lt"/>
              <a:cs typeface="+mn-lt"/>
            </a:endParaRPr>
          </a:p>
        </p:txBody>
      </p:sp>
    </p:spTree>
    <p:extLst>
      <p:ext uri="{BB962C8B-B14F-4D97-AF65-F5344CB8AC3E}">
        <p14:creationId xmlns:p14="http://schemas.microsoft.com/office/powerpoint/2010/main" val="430364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FC913-A4BB-0978-7125-CE301A8804C9}"/>
              </a:ext>
            </a:extLst>
          </p:cNvPr>
          <p:cNvSpPr>
            <a:spLocks noGrp="1"/>
          </p:cNvSpPr>
          <p:nvPr>
            <p:ph type="title"/>
          </p:nvPr>
        </p:nvSpPr>
        <p:spPr/>
        <p:txBody>
          <a:bodyPr/>
          <a:lstStyle/>
          <a:p>
            <a:r>
              <a:rPr lang="en-US">
                <a:ea typeface="+mj-lt"/>
                <a:cs typeface="+mj-lt"/>
              </a:rPr>
              <a:t>OpenAI Classifier</a:t>
            </a:r>
            <a:endParaRPr lang="en-US"/>
          </a:p>
        </p:txBody>
      </p:sp>
      <p:sp>
        <p:nvSpPr>
          <p:cNvPr id="3" name="Content Placeholder 2">
            <a:extLst>
              <a:ext uri="{FF2B5EF4-FFF2-40B4-BE49-F238E27FC236}">
                <a16:creationId xmlns:a16="http://schemas.microsoft.com/office/drawing/2014/main" id="{2E98A382-E2CE-830B-4E37-5F07C07D571E}"/>
              </a:ext>
            </a:extLst>
          </p:cNvPr>
          <p:cNvSpPr>
            <a:spLocks noGrp="1"/>
          </p:cNvSpPr>
          <p:nvPr>
            <p:ph idx="1"/>
          </p:nvPr>
        </p:nvSpPr>
        <p:spPr/>
        <p:txBody>
          <a:bodyPr vert="horz" lIns="0" tIns="45720" rIns="0" bIns="45720" rtlCol="0" anchor="t">
            <a:normAutofit/>
          </a:bodyPr>
          <a:lstStyle/>
          <a:p>
            <a:pPr marL="0" indent="0">
              <a:buNone/>
            </a:pPr>
            <a:r>
              <a:rPr lang="en-US">
                <a:ea typeface="+mn-lt"/>
                <a:cs typeface="+mn-lt"/>
              </a:rPr>
              <a:t>There is a classifier created by </a:t>
            </a:r>
            <a:r>
              <a:rPr lang="en-US" err="1">
                <a:ea typeface="+mn-lt"/>
                <a:cs typeface="+mn-lt"/>
              </a:rPr>
              <a:t>Openai</a:t>
            </a:r>
            <a:r>
              <a:rPr lang="en-US">
                <a:ea typeface="+mn-lt"/>
                <a:cs typeface="+mn-lt"/>
              </a:rPr>
              <a:t>(2023) that can detect AI generated text.</a:t>
            </a:r>
          </a:p>
          <a:p>
            <a:pPr marL="0" indent="0">
              <a:buNone/>
            </a:pPr>
            <a:endParaRPr lang="en-US">
              <a:ea typeface="+mn-lt"/>
              <a:cs typeface="+mn-lt"/>
            </a:endParaRPr>
          </a:p>
          <a:p>
            <a:pPr marL="0" indent="0">
              <a:buNone/>
            </a:pPr>
            <a:r>
              <a:rPr lang="en-US">
                <a:ea typeface="+mn-lt"/>
                <a:cs typeface="+mn-lt"/>
              </a:rPr>
              <a:t>Correctly Identifies 26% of AI-written text with a 9% of false positives for human text</a:t>
            </a:r>
            <a:endParaRPr lang="en-US" err="1"/>
          </a:p>
          <a:p>
            <a:pPr marL="0" indent="0">
              <a:buNone/>
            </a:pPr>
            <a:endParaRPr lang="en-US">
              <a:ea typeface="+mn-lt"/>
              <a:cs typeface="+mn-lt"/>
            </a:endParaRPr>
          </a:p>
          <a:p>
            <a:pPr marL="0" indent="0">
              <a:buNone/>
            </a:pPr>
            <a:r>
              <a:rPr lang="en-US">
                <a:ea typeface="+mn-lt"/>
                <a:cs typeface="+mn-lt"/>
              </a:rPr>
              <a:t>Limitations:</a:t>
            </a:r>
          </a:p>
          <a:p>
            <a:pPr marL="342900" indent="-342900">
              <a:buFont typeface="Arial" panose="020F0502020204030204" pitchFamily="34" charset="0"/>
              <a:buChar char="•"/>
            </a:pPr>
            <a:r>
              <a:rPr lang="en-US">
                <a:ea typeface="+mn-lt"/>
                <a:cs typeface="+mn-lt"/>
              </a:rPr>
              <a:t>Text under 1000 characters</a:t>
            </a:r>
          </a:p>
          <a:p>
            <a:pPr marL="342900" indent="-342900">
              <a:buFont typeface="Arial" panose="020F0502020204030204" pitchFamily="34" charset="0"/>
              <a:buChar char="•"/>
            </a:pPr>
            <a:r>
              <a:rPr lang="en-US">
                <a:ea typeface="+mn-lt"/>
                <a:cs typeface="+mn-lt"/>
              </a:rPr>
              <a:t>Performs poorly outside of the training data</a:t>
            </a:r>
          </a:p>
          <a:p>
            <a:pPr marL="0" indent="0">
              <a:buNone/>
            </a:pPr>
            <a:endParaRPr lang="en-US">
              <a:ea typeface="+mn-lt"/>
              <a:cs typeface="+mn-lt"/>
            </a:endParaRPr>
          </a:p>
          <a:p>
            <a:pPr marL="0" indent="0">
              <a:buNone/>
            </a:pPr>
            <a:r>
              <a:rPr lang="en-US" err="1">
                <a:ea typeface="+mn-lt"/>
                <a:cs typeface="+mn-lt"/>
              </a:rPr>
              <a:t>Openai</a:t>
            </a:r>
            <a:r>
              <a:rPr lang="en-US">
                <a:ea typeface="+mn-lt"/>
                <a:cs typeface="+mn-lt"/>
              </a:rPr>
              <a:t>(2023) detail how it should not be used as a primary decision-making tool</a:t>
            </a:r>
            <a:endParaRPr lang="en-US">
              <a:ea typeface="Calibri"/>
              <a:cs typeface="Calibri"/>
            </a:endParaRPr>
          </a:p>
        </p:txBody>
      </p:sp>
    </p:spTree>
    <p:extLst>
      <p:ext uri="{BB962C8B-B14F-4D97-AF65-F5344CB8AC3E}">
        <p14:creationId xmlns:p14="http://schemas.microsoft.com/office/powerpoint/2010/main" val="34701129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1F700-480D-AC7A-C284-8713A7C4F3FC}"/>
              </a:ext>
            </a:extLst>
          </p:cNvPr>
          <p:cNvSpPr>
            <a:spLocks noGrp="1"/>
          </p:cNvSpPr>
          <p:nvPr>
            <p:ph type="title"/>
          </p:nvPr>
        </p:nvSpPr>
        <p:spPr/>
        <p:txBody>
          <a:bodyPr/>
          <a:lstStyle/>
          <a:p>
            <a:r>
              <a:rPr lang="en-US">
                <a:cs typeface="Calibri Light"/>
              </a:rPr>
              <a:t>Data Gathering and Experiments</a:t>
            </a:r>
            <a:endParaRPr lang="en-US"/>
          </a:p>
        </p:txBody>
      </p:sp>
      <p:sp>
        <p:nvSpPr>
          <p:cNvPr id="3" name="Content Placeholder 2">
            <a:extLst>
              <a:ext uri="{FF2B5EF4-FFF2-40B4-BE49-F238E27FC236}">
                <a16:creationId xmlns:a16="http://schemas.microsoft.com/office/drawing/2014/main" id="{D2803076-A2B1-79DE-D05D-AF33F28674BB}"/>
              </a:ext>
            </a:extLst>
          </p:cNvPr>
          <p:cNvSpPr>
            <a:spLocks noGrp="1"/>
          </p:cNvSpPr>
          <p:nvPr>
            <p:ph idx="1"/>
          </p:nvPr>
        </p:nvSpPr>
        <p:spPr/>
        <p:txBody>
          <a:bodyPr vert="horz" lIns="0" tIns="45720" rIns="0" bIns="45720" rtlCol="0" anchor="t">
            <a:normAutofit/>
          </a:bodyPr>
          <a:lstStyle/>
          <a:p>
            <a:pPr marL="0" indent="0">
              <a:buNone/>
            </a:pPr>
            <a:r>
              <a:rPr lang="en-US" dirty="0">
                <a:ea typeface="Calibri" panose="020F0502020204030204"/>
                <a:cs typeface="Calibri" panose="020F0502020204030204"/>
              </a:rPr>
              <a:t>When gathering the data it is important to consider the effect of the prompt and how prompt complexity effects the responses generated.</a:t>
            </a:r>
          </a:p>
          <a:p>
            <a:pPr marL="0" indent="0">
              <a:buNone/>
            </a:pPr>
            <a:endParaRPr lang="en-US" dirty="0">
              <a:ea typeface="Calibri" panose="020F0502020204030204"/>
              <a:cs typeface="Calibri" panose="020F0502020204030204"/>
            </a:endParaRPr>
          </a:p>
          <a:p>
            <a:pPr marL="0" indent="0">
              <a:buNone/>
            </a:pPr>
            <a:r>
              <a:rPr lang="en-US" dirty="0">
                <a:ea typeface="Calibri" panose="020F0502020204030204"/>
                <a:cs typeface="Calibri" panose="020F0502020204030204"/>
              </a:rPr>
              <a:t>Identified Experiments:</a:t>
            </a:r>
            <a:endParaRPr lang="en-US" dirty="0"/>
          </a:p>
          <a:p>
            <a:pPr marL="457200" indent="-457200">
              <a:buFont typeface="Arial" panose="020F0502020204030204" pitchFamily="34" charset="0"/>
              <a:buChar char="•"/>
            </a:pPr>
            <a:r>
              <a:rPr lang="en-US" dirty="0">
                <a:ea typeface="Calibri" panose="020F0502020204030204"/>
                <a:cs typeface="Calibri" panose="020F0502020204030204"/>
              </a:rPr>
              <a:t>Different prompt generation</a:t>
            </a:r>
          </a:p>
          <a:p>
            <a:pPr marL="457200" indent="-457200">
              <a:buFont typeface="Arial" panose="020F0502020204030204" pitchFamily="34" charset="0"/>
              <a:buChar char="•"/>
            </a:pPr>
            <a:r>
              <a:rPr lang="en-US" dirty="0">
                <a:ea typeface="Calibri" panose="020F0502020204030204"/>
                <a:cs typeface="Calibri" panose="020F0502020204030204"/>
              </a:rPr>
              <a:t>Different Comparison/Similarity Metrics</a:t>
            </a:r>
          </a:p>
        </p:txBody>
      </p:sp>
    </p:spTree>
    <p:extLst>
      <p:ext uri="{BB962C8B-B14F-4D97-AF65-F5344CB8AC3E}">
        <p14:creationId xmlns:p14="http://schemas.microsoft.com/office/powerpoint/2010/main" val="37053502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1F700-480D-AC7A-C284-8713A7C4F3FC}"/>
              </a:ext>
            </a:extLst>
          </p:cNvPr>
          <p:cNvSpPr>
            <a:spLocks noGrp="1"/>
          </p:cNvSpPr>
          <p:nvPr>
            <p:ph type="title"/>
          </p:nvPr>
        </p:nvSpPr>
        <p:spPr/>
        <p:txBody>
          <a:bodyPr/>
          <a:lstStyle/>
          <a:p>
            <a:r>
              <a:rPr lang="en-US" dirty="0">
                <a:cs typeface="Calibri Light"/>
              </a:rPr>
              <a:t>Jaccard Similarity</a:t>
            </a:r>
            <a:endParaRPr lang="en-US" dirty="0"/>
          </a:p>
        </p:txBody>
      </p:sp>
      <p:sp>
        <p:nvSpPr>
          <p:cNvPr id="3" name="Content Placeholder 2">
            <a:extLst>
              <a:ext uri="{FF2B5EF4-FFF2-40B4-BE49-F238E27FC236}">
                <a16:creationId xmlns:a16="http://schemas.microsoft.com/office/drawing/2014/main" id="{D2803076-A2B1-79DE-D05D-AF33F28674BB}"/>
              </a:ext>
            </a:extLst>
          </p:cNvPr>
          <p:cNvSpPr>
            <a:spLocks noGrp="1"/>
          </p:cNvSpPr>
          <p:nvPr>
            <p:ph idx="1"/>
          </p:nvPr>
        </p:nvSpPr>
        <p:spPr/>
        <p:txBody>
          <a:bodyPr vert="horz" lIns="0" tIns="45720" rIns="0" bIns="45720" rtlCol="0" anchor="t">
            <a:normAutofit/>
          </a:bodyPr>
          <a:lstStyle/>
          <a:p>
            <a:pPr marL="0" indent="0">
              <a:buNone/>
            </a:pPr>
            <a:r>
              <a:rPr lang="en-US" dirty="0">
                <a:ea typeface="Calibri" panose="020F0502020204030204"/>
                <a:cs typeface="Calibri" panose="020F0502020204030204"/>
              </a:rPr>
              <a:t>Common Comparison metric for plagiarism</a:t>
            </a:r>
          </a:p>
          <a:p>
            <a:pPr marL="0" indent="0">
              <a:buNone/>
            </a:pPr>
            <a:endParaRPr lang="en-US" dirty="0">
              <a:ea typeface="Calibri" panose="020F0502020204030204"/>
              <a:cs typeface="Calibri" panose="020F0502020204030204"/>
            </a:endParaRPr>
          </a:p>
          <a:p>
            <a:pPr>
              <a:buNone/>
            </a:pPr>
            <a:r>
              <a:rPr lang="en-US" err="1">
                <a:ea typeface="+mn-lt"/>
                <a:cs typeface="+mn-lt"/>
              </a:rPr>
              <a:t>Specialises</a:t>
            </a:r>
            <a:r>
              <a:rPr lang="en-US" dirty="0">
                <a:ea typeface="+mn-lt"/>
                <a:cs typeface="+mn-lt"/>
              </a:rPr>
              <a:t> in identifying patterns in sample sets</a:t>
            </a:r>
          </a:p>
          <a:p>
            <a:pPr>
              <a:buNone/>
            </a:pPr>
            <a:endParaRPr lang="en-US" dirty="0">
              <a:ea typeface="Calibri"/>
              <a:cs typeface="Calibri"/>
            </a:endParaRPr>
          </a:p>
          <a:p>
            <a:pPr>
              <a:buNone/>
            </a:pPr>
            <a:r>
              <a:rPr lang="en-US" dirty="0">
                <a:ea typeface="Calibri"/>
                <a:cs typeface="Calibri"/>
              </a:rPr>
              <a:t>The equation is given as the </a:t>
            </a:r>
            <a:r>
              <a:rPr lang="en-US" dirty="0">
                <a:ea typeface="+mn-lt"/>
                <a:cs typeface="+mn-lt"/>
              </a:rPr>
              <a:t>size of the intersection over union </a:t>
            </a:r>
          </a:p>
        </p:txBody>
      </p:sp>
      <p:pic>
        <p:nvPicPr>
          <p:cNvPr id="4" name="Picture 3" descr="A mathematical equation with black text&#10;&#10;Description automatically generated">
            <a:extLst>
              <a:ext uri="{FF2B5EF4-FFF2-40B4-BE49-F238E27FC236}">
                <a16:creationId xmlns:a16="http://schemas.microsoft.com/office/drawing/2014/main" id="{BFE6E1B4-E70C-3992-F6F4-1F50F765FAA5}"/>
              </a:ext>
            </a:extLst>
          </p:cNvPr>
          <p:cNvPicPr>
            <a:picLocks noChangeAspect="1"/>
          </p:cNvPicPr>
          <p:nvPr/>
        </p:nvPicPr>
        <p:blipFill>
          <a:blip r:embed="rId2"/>
          <a:stretch>
            <a:fillRect/>
          </a:stretch>
        </p:blipFill>
        <p:spPr>
          <a:xfrm>
            <a:off x="7209624" y="1956787"/>
            <a:ext cx="3804718" cy="1580509"/>
          </a:xfrm>
          <a:prstGeom prst="rect">
            <a:avLst/>
          </a:prstGeom>
        </p:spPr>
      </p:pic>
    </p:spTree>
    <p:extLst>
      <p:ext uri="{BB962C8B-B14F-4D97-AF65-F5344CB8AC3E}">
        <p14:creationId xmlns:p14="http://schemas.microsoft.com/office/powerpoint/2010/main" val="1064272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1F700-480D-AC7A-C284-8713A7C4F3FC}"/>
              </a:ext>
            </a:extLst>
          </p:cNvPr>
          <p:cNvSpPr>
            <a:spLocks noGrp="1"/>
          </p:cNvSpPr>
          <p:nvPr>
            <p:ph type="title"/>
          </p:nvPr>
        </p:nvSpPr>
        <p:spPr/>
        <p:txBody>
          <a:bodyPr/>
          <a:lstStyle/>
          <a:p>
            <a:r>
              <a:rPr lang="en-US" dirty="0">
                <a:cs typeface="Calibri Light"/>
              </a:rPr>
              <a:t>Cosine Similarity</a:t>
            </a:r>
            <a:endParaRPr lang="en-US" dirty="0"/>
          </a:p>
        </p:txBody>
      </p:sp>
      <p:sp>
        <p:nvSpPr>
          <p:cNvPr id="3" name="Content Placeholder 2">
            <a:extLst>
              <a:ext uri="{FF2B5EF4-FFF2-40B4-BE49-F238E27FC236}">
                <a16:creationId xmlns:a16="http://schemas.microsoft.com/office/drawing/2014/main" id="{D2803076-A2B1-79DE-D05D-AF33F28674BB}"/>
              </a:ext>
            </a:extLst>
          </p:cNvPr>
          <p:cNvSpPr>
            <a:spLocks noGrp="1"/>
          </p:cNvSpPr>
          <p:nvPr>
            <p:ph idx="1"/>
          </p:nvPr>
        </p:nvSpPr>
        <p:spPr/>
        <p:txBody>
          <a:bodyPr vert="horz" lIns="0" tIns="45720" rIns="0" bIns="45720" rtlCol="0" anchor="t">
            <a:normAutofit/>
          </a:bodyPr>
          <a:lstStyle/>
          <a:p>
            <a:pPr>
              <a:buNone/>
            </a:pPr>
            <a:r>
              <a:rPr lang="en-US" dirty="0">
                <a:ea typeface="+mn-lt"/>
                <a:cs typeface="+mn-lt"/>
              </a:rPr>
              <a:t>This metric represents the data in a feature variable form</a:t>
            </a:r>
            <a:endParaRPr lang="en-US">
              <a:ea typeface="+mn-lt"/>
              <a:cs typeface="+mn-lt"/>
            </a:endParaRPr>
          </a:p>
          <a:p>
            <a:pPr>
              <a:buNone/>
            </a:pPr>
            <a:endParaRPr lang="en-US" dirty="0">
              <a:ea typeface="Calibri" panose="020F0502020204030204"/>
              <a:cs typeface="Calibri" panose="020F0502020204030204"/>
            </a:endParaRPr>
          </a:p>
          <a:p>
            <a:pPr>
              <a:buNone/>
            </a:pPr>
            <a:r>
              <a:rPr lang="en-US" dirty="0">
                <a:ea typeface="Calibri" panose="020F0502020204030204"/>
                <a:cs typeface="Calibri" panose="020F0502020204030204"/>
              </a:rPr>
              <a:t>Uses these features to evaluate each against each other to get the distance between the human input and the derivative case</a:t>
            </a:r>
          </a:p>
          <a:p>
            <a:pPr>
              <a:buNone/>
            </a:pPr>
            <a:endParaRPr lang="en-US" dirty="0">
              <a:ea typeface="Calibri" panose="020F0502020204030204"/>
              <a:cs typeface="Calibri" panose="020F0502020204030204"/>
            </a:endParaRPr>
          </a:p>
          <a:p>
            <a:pPr>
              <a:buNone/>
            </a:pPr>
            <a:r>
              <a:rPr lang="en-US" dirty="0">
                <a:ea typeface="Calibri" panose="020F0502020204030204"/>
                <a:cs typeface="Calibri" panose="020F0502020204030204"/>
              </a:rPr>
              <a:t>Can then use this to make an assumption about how similar the texts are</a:t>
            </a:r>
          </a:p>
        </p:txBody>
      </p:sp>
    </p:spTree>
    <p:extLst>
      <p:ext uri="{BB962C8B-B14F-4D97-AF65-F5344CB8AC3E}">
        <p14:creationId xmlns:p14="http://schemas.microsoft.com/office/powerpoint/2010/main" val="6171946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1D5CA-FDE4-C46B-948C-86075DD5CA40}"/>
              </a:ext>
            </a:extLst>
          </p:cNvPr>
          <p:cNvSpPr>
            <a:spLocks noGrp="1"/>
          </p:cNvSpPr>
          <p:nvPr>
            <p:ph type="title"/>
          </p:nvPr>
        </p:nvSpPr>
        <p:spPr/>
        <p:txBody>
          <a:bodyPr/>
          <a:lstStyle/>
          <a:p>
            <a:r>
              <a:rPr lang="en-US">
                <a:ea typeface="+mj-lt"/>
                <a:cs typeface="+mj-lt"/>
              </a:rPr>
              <a:t>Retrieval-Augmented Generation (RAG)</a:t>
            </a:r>
            <a:endParaRPr lang="en-US"/>
          </a:p>
        </p:txBody>
      </p:sp>
      <p:sp>
        <p:nvSpPr>
          <p:cNvPr id="3" name="Content Placeholder 2">
            <a:extLst>
              <a:ext uri="{FF2B5EF4-FFF2-40B4-BE49-F238E27FC236}">
                <a16:creationId xmlns:a16="http://schemas.microsoft.com/office/drawing/2014/main" id="{F770953F-B9B1-E8AC-CE23-0F068BA0D873}"/>
              </a:ext>
            </a:extLst>
          </p:cNvPr>
          <p:cNvSpPr>
            <a:spLocks noGrp="1"/>
          </p:cNvSpPr>
          <p:nvPr>
            <p:ph idx="1"/>
          </p:nvPr>
        </p:nvSpPr>
        <p:spPr/>
        <p:txBody>
          <a:bodyPr vert="horz" lIns="0" tIns="45720" rIns="0" bIns="45720" rtlCol="0" anchor="t">
            <a:normAutofit/>
          </a:bodyPr>
          <a:lstStyle/>
          <a:p>
            <a:pPr marL="0" indent="0">
              <a:buNone/>
            </a:pPr>
            <a:r>
              <a:rPr lang="en-US" dirty="0">
                <a:cs typeface="Calibri"/>
              </a:rPr>
              <a:t>A RAG based approach could lead to improvements in refining the test and sample data.</a:t>
            </a:r>
          </a:p>
          <a:p>
            <a:pPr marL="0" indent="0">
              <a:buNone/>
            </a:pPr>
            <a:endParaRPr lang="en-US" dirty="0">
              <a:ea typeface="Calibri" panose="020F0502020204030204"/>
              <a:cs typeface="Calibri"/>
            </a:endParaRPr>
          </a:p>
          <a:p>
            <a:pPr marL="0" indent="0">
              <a:buNone/>
            </a:pPr>
            <a:r>
              <a:rPr lang="en-US" dirty="0">
                <a:ea typeface="Calibri" panose="020F0502020204030204"/>
                <a:cs typeface="Calibri"/>
              </a:rPr>
              <a:t>The process of RAG generates responses</a:t>
            </a:r>
          </a:p>
          <a:p>
            <a:pPr marL="0" indent="0">
              <a:buNone/>
            </a:pPr>
            <a:r>
              <a:rPr lang="en-US" dirty="0">
                <a:ea typeface="Calibri" panose="020F0502020204030204"/>
                <a:cs typeface="Calibri"/>
              </a:rPr>
              <a:t>based on context provided alongside the</a:t>
            </a:r>
          </a:p>
          <a:p>
            <a:pPr marL="0" indent="0">
              <a:buNone/>
            </a:pPr>
            <a:r>
              <a:rPr lang="en-US" dirty="0">
                <a:ea typeface="Calibri" panose="020F0502020204030204"/>
                <a:cs typeface="Calibri"/>
              </a:rPr>
              <a:t>prompt.</a:t>
            </a:r>
          </a:p>
          <a:p>
            <a:pPr marL="0" indent="0">
              <a:buNone/>
            </a:pPr>
            <a:endParaRPr lang="en-US" dirty="0">
              <a:ea typeface="Calibri" panose="020F0502020204030204"/>
              <a:cs typeface="Calibri"/>
            </a:endParaRPr>
          </a:p>
          <a:p>
            <a:pPr marL="0" indent="0">
              <a:buNone/>
            </a:pPr>
            <a:endParaRPr lang="en-US" dirty="0">
              <a:ea typeface="Calibri" panose="020F0502020204030204"/>
              <a:cs typeface="Calibri"/>
            </a:endParaRPr>
          </a:p>
        </p:txBody>
      </p:sp>
      <p:pic>
        <p:nvPicPr>
          <p:cNvPr id="4" name="Picture 3" descr="A diagram of a process&#10;&#10;Description automatically generated">
            <a:extLst>
              <a:ext uri="{FF2B5EF4-FFF2-40B4-BE49-F238E27FC236}">
                <a16:creationId xmlns:a16="http://schemas.microsoft.com/office/drawing/2014/main" id="{FCADB8F9-C656-C33C-27E9-379DE402B138}"/>
              </a:ext>
            </a:extLst>
          </p:cNvPr>
          <p:cNvPicPr>
            <a:picLocks noChangeAspect="1"/>
          </p:cNvPicPr>
          <p:nvPr/>
        </p:nvPicPr>
        <p:blipFill>
          <a:blip r:embed="rId2"/>
          <a:stretch>
            <a:fillRect/>
          </a:stretch>
        </p:blipFill>
        <p:spPr>
          <a:xfrm>
            <a:off x="5628555" y="2209800"/>
            <a:ext cx="6096000" cy="2438400"/>
          </a:xfrm>
          <a:prstGeom prst="rect">
            <a:avLst/>
          </a:prstGeom>
        </p:spPr>
      </p:pic>
    </p:spTree>
    <p:extLst>
      <p:ext uri="{BB962C8B-B14F-4D97-AF65-F5344CB8AC3E}">
        <p14:creationId xmlns:p14="http://schemas.microsoft.com/office/powerpoint/2010/main" val="14620881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6B2AA-CCBD-D822-F4E5-45845AB098F7}"/>
              </a:ext>
            </a:extLst>
          </p:cNvPr>
          <p:cNvSpPr>
            <a:spLocks noGrp="1"/>
          </p:cNvSpPr>
          <p:nvPr>
            <p:ph type="title"/>
          </p:nvPr>
        </p:nvSpPr>
        <p:spPr/>
        <p:txBody>
          <a:bodyPr/>
          <a:lstStyle/>
          <a:p>
            <a:r>
              <a:rPr lang="en-US">
                <a:cs typeface="Calibri Light"/>
              </a:rPr>
              <a:t>Design</a:t>
            </a:r>
            <a:endParaRPr lang="en-US"/>
          </a:p>
        </p:txBody>
      </p:sp>
      <p:sp>
        <p:nvSpPr>
          <p:cNvPr id="3" name="Content Placeholder 2">
            <a:extLst>
              <a:ext uri="{FF2B5EF4-FFF2-40B4-BE49-F238E27FC236}">
                <a16:creationId xmlns:a16="http://schemas.microsoft.com/office/drawing/2014/main" id="{992ED456-BC7B-5C67-3408-BCFF49F6BF4F}"/>
              </a:ext>
            </a:extLst>
          </p:cNvPr>
          <p:cNvSpPr>
            <a:spLocks noGrp="1"/>
          </p:cNvSpPr>
          <p:nvPr>
            <p:ph idx="1"/>
          </p:nvPr>
        </p:nvSpPr>
        <p:spPr/>
        <p:txBody>
          <a:bodyPr vert="horz" lIns="0" tIns="45720" rIns="0" bIns="45720" rtlCol="0" anchor="t">
            <a:normAutofit/>
          </a:bodyPr>
          <a:lstStyle/>
          <a:p>
            <a:pPr marL="0" indent="0">
              <a:buNone/>
            </a:pPr>
            <a:r>
              <a:rPr lang="en-US">
                <a:ea typeface="Calibri"/>
                <a:cs typeface="Calibri"/>
              </a:rPr>
              <a:t>This part details the design process and the decisions made during the creation of the system.</a:t>
            </a:r>
            <a:endParaRPr lang="en-US" dirty="0">
              <a:ea typeface="Calibri"/>
              <a:cs typeface="Calibri"/>
            </a:endParaRPr>
          </a:p>
          <a:p>
            <a:pPr marL="0" indent="0">
              <a:buNone/>
            </a:pPr>
            <a:endParaRPr lang="en-US" dirty="0">
              <a:ea typeface="Calibri"/>
              <a:cs typeface="Calibri"/>
            </a:endParaRPr>
          </a:p>
          <a:p>
            <a:pPr marL="0" indent="0">
              <a:buNone/>
            </a:pPr>
            <a:r>
              <a:rPr lang="en-US" dirty="0">
                <a:ea typeface="Calibri"/>
                <a:cs typeface="Calibri"/>
              </a:rPr>
              <a:t>Topics:</a:t>
            </a:r>
          </a:p>
          <a:p>
            <a:pPr marL="342900" indent="-342900">
              <a:buFont typeface="Arial" panose="020F0502020204030204" pitchFamily="34" charset="0"/>
              <a:buChar char="•"/>
            </a:pPr>
            <a:r>
              <a:rPr lang="en-US">
                <a:ea typeface="Calibri"/>
                <a:cs typeface="Calibri"/>
              </a:rPr>
              <a:t>The tools</a:t>
            </a:r>
          </a:p>
          <a:p>
            <a:pPr marL="342900" indent="-342900">
              <a:buFont typeface="Arial" panose="020F0502020204030204" pitchFamily="34" charset="0"/>
              <a:buChar char="•"/>
            </a:pPr>
            <a:r>
              <a:rPr lang="en-US">
                <a:ea typeface="Calibri"/>
                <a:cs typeface="Calibri"/>
              </a:rPr>
              <a:t>Changes from the initial plan because of any challenges identified</a:t>
            </a:r>
          </a:p>
          <a:p>
            <a:pPr marL="342900" indent="-342900">
              <a:buFont typeface="Arial" panose="020F0502020204030204" pitchFamily="34" charset="0"/>
              <a:buChar char="•"/>
            </a:pPr>
            <a:r>
              <a:rPr lang="en-US" dirty="0">
                <a:ea typeface="+mn-lt"/>
                <a:cs typeface="+mn-lt"/>
              </a:rPr>
              <a:t>Designed </a:t>
            </a:r>
            <a:r>
              <a:rPr lang="en-US" dirty="0">
                <a:ea typeface="Calibri"/>
                <a:cs typeface="Calibri"/>
              </a:rPr>
              <a:t>Frameworks</a:t>
            </a:r>
          </a:p>
        </p:txBody>
      </p:sp>
    </p:spTree>
    <p:extLst>
      <p:ext uri="{BB962C8B-B14F-4D97-AF65-F5344CB8AC3E}">
        <p14:creationId xmlns:p14="http://schemas.microsoft.com/office/powerpoint/2010/main" val="11753802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6B2AA-CCBD-D822-F4E5-45845AB098F7}"/>
              </a:ext>
            </a:extLst>
          </p:cNvPr>
          <p:cNvSpPr>
            <a:spLocks noGrp="1"/>
          </p:cNvSpPr>
          <p:nvPr>
            <p:ph type="title"/>
          </p:nvPr>
        </p:nvSpPr>
        <p:spPr/>
        <p:txBody>
          <a:bodyPr/>
          <a:lstStyle/>
          <a:p>
            <a:r>
              <a:rPr lang="en-US" dirty="0">
                <a:cs typeface="Calibri Light"/>
              </a:rPr>
              <a:t>Design Tools Identified</a:t>
            </a:r>
            <a:endParaRPr lang="en-US" dirty="0"/>
          </a:p>
        </p:txBody>
      </p:sp>
      <p:sp>
        <p:nvSpPr>
          <p:cNvPr id="3" name="Content Placeholder 2">
            <a:extLst>
              <a:ext uri="{FF2B5EF4-FFF2-40B4-BE49-F238E27FC236}">
                <a16:creationId xmlns:a16="http://schemas.microsoft.com/office/drawing/2014/main" id="{992ED456-BC7B-5C67-3408-BCFF49F6BF4F}"/>
              </a:ext>
            </a:extLst>
          </p:cNvPr>
          <p:cNvSpPr>
            <a:spLocks noGrp="1"/>
          </p:cNvSpPr>
          <p:nvPr>
            <p:ph idx="1"/>
          </p:nvPr>
        </p:nvSpPr>
        <p:spPr/>
        <p:txBody>
          <a:bodyPr vert="horz" lIns="0" tIns="45720" rIns="0" bIns="45720" rtlCol="0" anchor="t">
            <a:normAutofit/>
          </a:bodyPr>
          <a:lstStyle/>
          <a:p>
            <a:r>
              <a:rPr lang="en-US" sz="2100" dirty="0">
                <a:ea typeface="+mn-lt"/>
                <a:cs typeface="+mn-lt"/>
              </a:rPr>
              <a:t>The Natural Language Toolkit NTKL (2024) is used for the natural language process required for input handling. </a:t>
            </a:r>
          </a:p>
          <a:p>
            <a:endParaRPr lang="en-US"/>
          </a:p>
          <a:p>
            <a:r>
              <a:rPr lang="en-US" sz="2100" dirty="0">
                <a:ea typeface="+mn-lt"/>
                <a:cs typeface="+mn-lt"/>
              </a:rPr>
              <a:t>The OpenAI python library, seen in The OpenAI GitHub repository (2024) </a:t>
            </a:r>
            <a:endParaRPr lang="en-US"/>
          </a:p>
          <a:p>
            <a:endParaRPr lang="en-US"/>
          </a:p>
          <a:p>
            <a:r>
              <a:rPr lang="en-US" sz="2100" dirty="0">
                <a:ea typeface="+mn-lt"/>
                <a:cs typeface="+mn-lt"/>
              </a:rPr>
              <a:t>The </a:t>
            </a:r>
            <a:r>
              <a:rPr lang="en-US" sz="2100" dirty="0" err="1">
                <a:ea typeface="+mn-lt"/>
                <a:cs typeface="+mn-lt"/>
              </a:rPr>
              <a:t>LangChain</a:t>
            </a:r>
            <a:r>
              <a:rPr lang="en-US" sz="2100" dirty="0">
                <a:ea typeface="+mn-lt"/>
                <a:cs typeface="+mn-lt"/>
              </a:rPr>
              <a:t> Python Framework (2024) library is used for the RAG response generation</a:t>
            </a:r>
            <a:endParaRPr lang="en-US" dirty="0"/>
          </a:p>
          <a:p>
            <a:pPr marL="0" indent="0">
              <a:buNone/>
            </a:pPr>
            <a:endParaRPr lang="en-US" sz="2100" dirty="0">
              <a:ea typeface="+mn-lt"/>
              <a:cs typeface="+mn-lt"/>
            </a:endParaRPr>
          </a:p>
        </p:txBody>
      </p:sp>
    </p:spTree>
    <p:extLst>
      <p:ext uri="{BB962C8B-B14F-4D97-AF65-F5344CB8AC3E}">
        <p14:creationId xmlns:p14="http://schemas.microsoft.com/office/powerpoint/2010/main" val="22336741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6B2AA-CCBD-D822-F4E5-45845AB098F7}"/>
              </a:ext>
            </a:extLst>
          </p:cNvPr>
          <p:cNvSpPr>
            <a:spLocks noGrp="1"/>
          </p:cNvSpPr>
          <p:nvPr>
            <p:ph type="title"/>
          </p:nvPr>
        </p:nvSpPr>
        <p:spPr/>
        <p:txBody>
          <a:bodyPr/>
          <a:lstStyle/>
          <a:p>
            <a:r>
              <a:rPr lang="en-US" dirty="0">
                <a:cs typeface="Calibri Light"/>
              </a:rPr>
              <a:t>Design Framework</a:t>
            </a:r>
            <a:endParaRPr lang="en-US" dirty="0"/>
          </a:p>
        </p:txBody>
      </p:sp>
      <p:pic>
        <p:nvPicPr>
          <p:cNvPr id="4" name="Content Placeholder 3" descr="A diagram of a task&#10;&#10;Description automatically generated">
            <a:extLst>
              <a:ext uri="{FF2B5EF4-FFF2-40B4-BE49-F238E27FC236}">
                <a16:creationId xmlns:a16="http://schemas.microsoft.com/office/drawing/2014/main" id="{1979B26D-A83C-5B4D-8F7F-72B9BC652DB3}"/>
              </a:ext>
            </a:extLst>
          </p:cNvPr>
          <p:cNvPicPr>
            <a:picLocks noGrp="1" noChangeAspect="1"/>
          </p:cNvPicPr>
          <p:nvPr>
            <p:ph idx="1"/>
          </p:nvPr>
        </p:nvPicPr>
        <p:blipFill>
          <a:blip r:embed="rId2"/>
          <a:stretch>
            <a:fillRect/>
          </a:stretch>
        </p:blipFill>
        <p:spPr>
          <a:xfrm>
            <a:off x="3532367" y="1800014"/>
            <a:ext cx="5188226" cy="4114800"/>
          </a:xfrm>
        </p:spPr>
      </p:pic>
    </p:spTree>
    <p:extLst>
      <p:ext uri="{BB962C8B-B14F-4D97-AF65-F5344CB8AC3E}">
        <p14:creationId xmlns:p14="http://schemas.microsoft.com/office/powerpoint/2010/main" val="42512257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6B2AA-CCBD-D822-F4E5-45845AB098F7}"/>
              </a:ext>
            </a:extLst>
          </p:cNvPr>
          <p:cNvSpPr>
            <a:spLocks noGrp="1"/>
          </p:cNvSpPr>
          <p:nvPr>
            <p:ph type="title"/>
          </p:nvPr>
        </p:nvSpPr>
        <p:spPr/>
        <p:txBody>
          <a:bodyPr/>
          <a:lstStyle/>
          <a:p>
            <a:r>
              <a:rPr lang="en-US" dirty="0">
                <a:cs typeface="Calibri Light"/>
              </a:rPr>
              <a:t>Design Framework RAG</a:t>
            </a:r>
            <a:endParaRPr lang="en-US" dirty="0"/>
          </a:p>
        </p:txBody>
      </p:sp>
      <p:pic>
        <p:nvPicPr>
          <p:cNvPr id="4" name="Content Placeholder 3" descr="A diagram of a task&#10;&#10;Description automatically generated">
            <a:extLst>
              <a:ext uri="{FF2B5EF4-FFF2-40B4-BE49-F238E27FC236}">
                <a16:creationId xmlns:a16="http://schemas.microsoft.com/office/drawing/2014/main" id="{453F5423-8998-2BB1-224C-4A28A9046E97}"/>
              </a:ext>
            </a:extLst>
          </p:cNvPr>
          <p:cNvPicPr>
            <a:picLocks noGrp="1" noChangeAspect="1"/>
          </p:cNvPicPr>
          <p:nvPr>
            <p:ph idx="1"/>
          </p:nvPr>
        </p:nvPicPr>
        <p:blipFill>
          <a:blip r:embed="rId2"/>
          <a:stretch>
            <a:fillRect/>
          </a:stretch>
        </p:blipFill>
        <p:spPr>
          <a:xfrm>
            <a:off x="573906" y="1864048"/>
            <a:ext cx="5636680" cy="4114800"/>
          </a:xfrm>
        </p:spPr>
      </p:pic>
      <p:pic>
        <p:nvPicPr>
          <p:cNvPr id="5" name="Picture 4" descr="A diagram of a diagram&#10;&#10;Description automatically generated">
            <a:extLst>
              <a:ext uri="{FF2B5EF4-FFF2-40B4-BE49-F238E27FC236}">
                <a16:creationId xmlns:a16="http://schemas.microsoft.com/office/drawing/2014/main" id="{F4AFE6C2-D908-DD64-94D4-E34875740D65}"/>
              </a:ext>
            </a:extLst>
          </p:cNvPr>
          <p:cNvPicPr>
            <a:picLocks noChangeAspect="1"/>
          </p:cNvPicPr>
          <p:nvPr/>
        </p:nvPicPr>
        <p:blipFill>
          <a:blip r:embed="rId3"/>
          <a:stretch>
            <a:fillRect/>
          </a:stretch>
        </p:blipFill>
        <p:spPr>
          <a:xfrm>
            <a:off x="7738303" y="1866301"/>
            <a:ext cx="3771900" cy="4124325"/>
          </a:xfrm>
          <a:prstGeom prst="rect">
            <a:avLst/>
          </a:prstGeom>
        </p:spPr>
      </p:pic>
      <p:sp>
        <p:nvSpPr>
          <p:cNvPr id="7" name="Arrow: Right 6">
            <a:extLst>
              <a:ext uri="{FF2B5EF4-FFF2-40B4-BE49-F238E27FC236}">
                <a16:creationId xmlns:a16="http://schemas.microsoft.com/office/drawing/2014/main" id="{4BE166D1-D183-0C76-0A2B-D05DD60A1222}"/>
              </a:ext>
            </a:extLst>
          </p:cNvPr>
          <p:cNvSpPr/>
          <p:nvPr/>
        </p:nvSpPr>
        <p:spPr>
          <a:xfrm>
            <a:off x="6540499" y="3682999"/>
            <a:ext cx="890067" cy="3009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37705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B980D-B092-E887-A3AA-22CF812E6120}"/>
              </a:ext>
            </a:extLst>
          </p:cNvPr>
          <p:cNvSpPr>
            <a:spLocks noGrp="1"/>
          </p:cNvSpPr>
          <p:nvPr>
            <p:ph type="title"/>
          </p:nvPr>
        </p:nvSpPr>
        <p:spPr/>
        <p:txBody>
          <a:bodyPr/>
          <a:lstStyle/>
          <a:p>
            <a:r>
              <a:rPr lang="en-US">
                <a:ea typeface="+mj-lt"/>
                <a:cs typeface="+mj-lt"/>
              </a:rPr>
              <a:t>Implementation</a:t>
            </a:r>
            <a:endParaRPr lang="en-US"/>
          </a:p>
        </p:txBody>
      </p:sp>
      <p:sp>
        <p:nvSpPr>
          <p:cNvPr id="3" name="Content Placeholder 2">
            <a:extLst>
              <a:ext uri="{FF2B5EF4-FFF2-40B4-BE49-F238E27FC236}">
                <a16:creationId xmlns:a16="http://schemas.microsoft.com/office/drawing/2014/main" id="{DD212CCA-7424-7D6B-ED39-74D82D8436F0}"/>
              </a:ext>
            </a:extLst>
          </p:cNvPr>
          <p:cNvSpPr>
            <a:spLocks noGrp="1"/>
          </p:cNvSpPr>
          <p:nvPr>
            <p:ph idx="1"/>
          </p:nvPr>
        </p:nvSpPr>
        <p:spPr/>
        <p:txBody>
          <a:bodyPr vert="horz" lIns="0" tIns="45720" rIns="0" bIns="45720" rtlCol="0" anchor="t">
            <a:normAutofit/>
          </a:bodyPr>
          <a:lstStyle/>
          <a:p>
            <a:pPr marL="0" indent="0">
              <a:buNone/>
            </a:pPr>
            <a:r>
              <a:rPr lang="en-US" dirty="0">
                <a:ea typeface="Calibri"/>
                <a:cs typeface="Calibri"/>
              </a:rPr>
              <a:t>This section features the implementation of both methods and the different similarity metrics.</a:t>
            </a:r>
          </a:p>
          <a:p>
            <a:pPr marL="0" indent="0">
              <a:buNone/>
            </a:pPr>
            <a:endParaRPr lang="en-US" dirty="0">
              <a:ea typeface="Calibri"/>
              <a:cs typeface="Calibri"/>
            </a:endParaRPr>
          </a:p>
          <a:p>
            <a:pPr marL="0" indent="0">
              <a:buNone/>
            </a:pPr>
            <a:r>
              <a:rPr lang="en-US" dirty="0">
                <a:ea typeface="Calibri"/>
                <a:cs typeface="Calibri"/>
              </a:rPr>
              <a:t>It shows how the systems have been applied.</a:t>
            </a:r>
            <a:endParaRPr lang="en-US" dirty="0"/>
          </a:p>
          <a:p>
            <a:pPr marL="0" indent="0">
              <a:buNone/>
            </a:pPr>
            <a:endParaRPr lang="en-US" dirty="0">
              <a:ea typeface="Calibri"/>
              <a:cs typeface="Calibri"/>
            </a:endParaRPr>
          </a:p>
          <a:p>
            <a:pPr marL="0" indent="0">
              <a:buNone/>
            </a:pPr>
            <a:r>
              <a:rPr lang="en-US" dirty="0">
                <a:ea typeface="Calibri"/>
                <a:cs typeface="Calibri"/>
              </a:rPr>
              <a:t>There is also a demo to show how the system runs.</a:t>
            </a:r>
            <a:endParaRPr lang="en-US" dirty="0"/>
          </a:p>
          <a:p>
            <a:pPr marL="0" indent="0">
              <a:buNone/>
            </a:pPr>
            <a:endParaRPr lang="en-US" dirty="0">
              <a:ea typeface="Calibri"/>
              <a:cs typeface="Calibri"/>
            </a:endParaRPr>
          </a:p>
          <a:p>
            <a:pPr marL="0" indent="0">
              <a:buNone/>
            </a:pPr>
            <a:endParaRPr lang="en-US" dirty="0">
              <a:ea typeface="Calibri"/>
              <a:cs typeface="Calibri"/>
            </a:endParaRPr>
          </a:p>
          <a:p>
            <a:pPr marL="0" indent="0">
              <a:buNone/>
            </a:pPr>
            <a:endParaRPr lang="en-US" dirty="0">
              <a:ea typeface="Calibri"/>
              <a:cs typeface="Calibri"/>
            </a:endParaRPr>
          </a:p>
        </p:txBody>
      </p:sp>
    </p:spTree>
    <p:extLst>
      <p:ext uri="{BB962C8B-B14F-4D97-AF65-F5344CB8AC3E}">
        <p14:creationId xmlns:p14="http://schemas.microsoft.com/office/powerpoint/2010/main" val="41081644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B980D-B092-E887-A3AA-22CF812E6120}"/>
              </a:ext>
            </a:extLst>
          </p:cNvPr>
          <p:cNvSpPr>
            <a:spLocks noGrp="1"/>
          </p:cNvSpPr>
          <p:nvPr>
            <p:ph type="title"/>
          </p:nvPr>
        </p:nvSpPr>
        <p:spPr/>
        <p:txBody>
          <a:bodyPr/>
          <a:lstStyle/>
          <a:p>
            <a:r>
              <a:rPr lang="en-US" dirty="0">
                <a:ea typeface="+mj-lt"/>
                <a:cs typeface="+mj-lt"/>
              </a:rPr>
              <a:t>Implementation Frameworks</a:t>
            </a:r>
            <a:endParaRPr lang="en-US" dirty="0"/>
          </a:p>
        </p:txBody>
      </p:sp>
      <p:pic>
        <p:nvPicPr>
          <p:cNvPr id="4" name="Content Placeholder 3" descr="A diagram of a process&#10;&#10;Description automatically generated">
            <a:extLst>
              <a:ext uri="{FF2B5EF4-FFF2-40B4-BE49-F238E27FC236}">
                <a16:creationId xmlns:a16="http://schemas.microsoft.com/office/drawing/2014/main" id="{E73DD9B2-96B8-11D8-A628-F884C8EFFBE4}"/>
              </a:ext>
            </a:extLst>
          </p:cNvPr>
          <p:cNvPicPr>
            <a:picLocks noGrp="1" noChangeAspect="1"/>
          </p:cNvPicPr>
          <p:nvPr>
            <p:ph idx="1"/>
          </p:nvPr>
        </p:nvPicPr>
        <p:blipFill rotWithShape="1">
          <a:blip r:embed="rId2"/>
          <a:srcRect t="8255" b="-156"/>
          <a:stretch/>
        </p:blipFill>
        <p:spPr>
          <a:xfrm>
            <a:off x="927363" y="1812820"/>
            <a:ext cx="3982065" cy="3781517"/>
          </a:xfrm>
        </p:spPr>
      </p:pic>
      <p:pic>
        <p:nvPicPr>
          <p:cNvPr id="6" name="Picture 5" descr="A diagram of a company&#10;&#10;Description automatically generated">
            <a:extLst>
              <a:ext uri="{FF2B5EF4-FFF2-40B4-BE49-F238E27FC236}">
                <a16:creationId xmlns:a16="http://schemas.microsoft.com/office/drawing/2014/main" id="{91060CFB-8694-0103-ED29-2623DF259570}"/>
              </a:ext>
            </a:extLst>
          </p:cNvPr>
          <p:cNvPicPr>
            <a:picLocks noChangeAspect="1"/>
          </p:cNvPicPr>
          <p:nvPr/>
        </p:nvPicPr>
        <p:blipFill rotWithShape="1">
          <a:blip r:embed="rId3"/>
          <a:srcRect l="-37" t="2380" r="-133" b="-156"/>
          <a:stretch/>
        </p:blipFill>
        <p:spPr>
          <a:xfrm>
            <a:off x="6371524" y="1815244"/>
            <a:ext cx="4640324" cy="3863175"/>
          </a:xfrm>
          <a:prstGeom prst="rect">
            <a:avLst/>
          </a:prstGeom>
        </p:spPr>
      </p:pic>
      <p:sp>
        <p:nvSpPr>
          <p:cNvPr id="7" name="TextBox 6">
            <a:extLst>
              <a:ext uri="{FF2B5EF4-FFF2-40B4-BE49-F238E27FC236}">
                <a16:creationId xmlns:a16="http://schemas.microsoft.com/office/drawing/2014/main" id="{8589059C-1846-F6B5-0FF6-3B547410A253}"/>
              </a:ext>
            </a:extLst>
          </p:cNvPr>
          <p:cNvSpPr txBox="1"/>
          <p:nvPr/>
        </p:nvSpPr>
        <p:spPr>
          <a:xfrm>
            <a:off x="1628943" y="5684287"/>
            <a:ext cx="257326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ea typeface="Calibri"/>
                <a:cs typeface="Calibri"/>
              </a:rPr>
              <a:t>Non-RAG System</a:t>
            </a:r>
          </a:p>
        </p:txBody>
      </p:sp>
      <p:sp>
        <p:nvSpPr>
          <p:cNvPr id="8" name="TextBox 7">
            <a:extLst>
              <a:ext uri="{FF2B5EF4-FFF2-40B4-BE49-F238E27FC236}">
                <a16:creationId xmlns:a16="http://schemas.microsoft.com/office/drawing/2014/main" id="{DE6B8F61-9D1B-76EF-3D5A-96856C9581C6}"/>
              </a:ext>
            </a:extLst>
          </p:cNvPr>
          <p:cNvSpPr txBox="1"/>
          <p:nvPr/>
        </p:nvSpPr>
        <p:spPr>
          <a:xfrm>
            <a:off x="7334337" y="5703496"/>
            <a:ext cx="257326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ea typeface="Calibri"/>
                <a:cs typeface="Calibri"/>
              </a:rPr>
              <a:t>RAG System</a:t>
            </a:r>
          </a:p>
        </p:txBody>
      </p:sp>
    </p:spTree>
    <p:extLst>
      <p:ext uri="{BB962C8B-B14F-4D97-AF65-F5344CB8AC3E}">
        <p14:creationId xmlns:p14="http://schemas.microsoft.com/office/powerpoint/2010/main" val="40298125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DAB7F-0CAC-12A3-ACB7-8713A1CA6F73}"/>
              </a:ext>
            </a:extLst>
          </p:cNvPr>
          <p:cNvSpPr>
            <a:spLocks noGrp="1"/>
          </p:cNvSpPr>
          <p:nvPr>
            <p:ph type="title"/>
          </p:nvPr>
        </p:nvSpPr>
        <p:spPr/>
        <p:txBody>
          <a:bodyPr>
            <a:normAutofit/>
          </a:bodyPr>
          <a:lstStyle/>
          <a:p>
            <a:r>
              <a:rPr lang="en-US" dirty="0">
                <a:ea typeface="+mj-lt"/>
                <a:cs typeface="+mj-lt"/>
              </a:rPr>
              <a:t>API Key to get a response </a:t>
            </a:r>
          </a:p>
        </p:txBody>
      </p:sp>
      <p:sp>
        <p:nvSpPr>
          <p:cNvPr id="3" name="Content Placeholder 2">
            <a:extLst>
              <a:ext uri="{FF2B5EF4-FFF2-40B4-BE49-F238E27FC236}">
                <a16:creationId xmlns:a16="http://schemas.microsoft.com/office/drawing/2014/main" id="{CACD74CC-8CC6-4DB5-B9DE-EC25ABA23A6C}"/>
              </a:ext>
            </a:extLst>
          </p:cNvPr>
          <p:cNvSpPr>
            <a:spLocks noGrp="1"/>
          </p:cNvSpPr>
          <p:nvPr>
            <p:ph idx="1"/>
          </p:nvPr>
        </p:nvSpPr>
        <p:spPr>
          <a:xfrm>
            <a:off x="1097280" y="1845734"/>
            <a:ext cx="5528154" cy="4023360"/>
          </a:xfrm>
        </p:spPr>
        <p:txBody>
          <a:bodyPr vert="horz" lIns="0" tIns="45720" rIns="0" bIns="45720" rtlCol="0" anchor="t">
            <a:normAutofit/>
          </a:bodyPr>
          <a:lstStyle/>
          <a:p>
            <a:pPr marL="0" indent="0">
              <a:buNone/>
            </a:pPr>
            <a:r>
              <a:rPr lang="en-US" dirty="0">
                <a:ea typeface="+mn-lt"/>
                <a:cs typeface="+mn-lt"/>
              </a:rPr>
              <a:t>This is the code run to generate a query from a chatbot model.</a:t>
            </a:r>
          </a:p>
          <a:p>
            <a:pPr marL="0" indent="0">
              <a:buNone/>
            </a:pPr>
            <a:endParaRPr lang="en-US" dirty="0">
              <a:ea typeface="+mn-lt"/>
              <a:cs typeface="+mn-lt"/>
            </a:endParaRPr>
          </a:p>
          <a:p>
            <a:pPr marL="0" indent="0">
              <a:buNone/>
            </a:pPr>
            <a:r>
              <a:rPr lang="en-US" dirty="0">
                <a:ea typeface="+mn-lt"/>
                <a:cs typeface="+mn-lt"/>
              </a:rPr>
              <a:t>The code requires an API key to get a response. This API key is stored in the </a:t>
            </a:r>
            <a:r>
              <a:rPr lang="en-US" i="1" dirty="0">
                <a:ea typeface="+mn-lt"/>
                <a:cs typeface="+mn-lt"/>
              </a:rPr>
              <a:t>.env</a:t>
            </a:r>
            <a:r>
              <a:rPr lang="en-US" dirty="0">
                <a:ea typeface="+mn-lt"/>
                <a:cs typeface="+mn-lt"/>
              </a:rPr>
              <a:t> environment variables.</a:t>
            </a:r>
            <a:endParaRPr lang="en-US" dirty="0">
              <a:ea typeface="Calibri" panose="020F0502020204030204"/>
              <a:cs typeface="Calibri" panose="020F0502020204030204"/>
            </a:endParaRPr>
          </a:p>
          <a:p>
            <a:pPr marL="0" indent="0">
              <a:buNone/>
            </a:pPr>
            <a:endParaRPr lang="en-US" dirty="0">
              <a:ea typeface="Calibri" panose="020F0502020204030204"/>
              <a:cs typeface="Calibri" panose="020F0502020204030204"/>
            </a:endParaRPr>
          </a:p>
          <a:p>
            <a:pPr marL="0" indent="0">
              <a:buNone/>
            </a:pPr>
            <a:r>
              <a:rPr lang="en-US" dirty="0">
                <a:ea typeface="Calibri" panose="020F0502020204030204"/>
                <a:cs typeface="Calibri" panose="020F0502020204030204"/>
              </a:rPr>
              <a:t>In the generate function this simple function shows how the response can be generated using a prompt as an input and specifying "gpt-3.5-turbo" as the model.</a:t>
            </a:r>
          </a:p>
        </p:txBody>
      </p:sp>
      <p:pic>
        <p:nvPicPr>
          <p:cNvPr id="4" name="Picture 3" descr="A computer screen shot of a program code&#10;&#10;Description automatically generated">
            <a:extLst>
              <a:ext uri="{FF2B5EF4-FFF2-40B4-BE49-F238E27FC236}">
                <a16:creationId xmlns:a16="http://schemas.microsoft.com/office/drawing/2014/main" id="{D9528430-64B5-1138-75C1-79658F1E41D9}"/>
              </a:ext>
            </a:extLst>
          </p:cNvPr>
          <p:cNvPicPr>
            <a:picLocks noChangeAspect="1"/>
          </p:cNvPicPr>
          <p:nvPr/>
        </p:nvPicPr>
        <p:blipFill>
          <a:blip r:embed="rId2"/>
          <a:stretch>
            <a:fillRect/>
          </a:stretch>
        </p:blipFill>
        <p:spPr>
          <a:xfrm>
            <a:off x="6927154" y="3855733"/>
            <a:ext cx="4611144" cy="2371986"/>
          </a:xfrm>
          <a:prstGeom prst="rect">
            <a:avLst/>
          </a:prstGeom>
        </p:spPr>
      </p:pic>
      <p:pic>
        <p:nvPicPr>
          <p:cNvPr id="6" name="Picture 5" descr="A black background with white text&#10;&#10;Description automatically generated">
            <a:extLst>
              <a:ext uri="{FF2B5EF4-FFF2-40B4-BE49-F238E27FC236}">
                <a16:creationId xmlns:a16="http://schemas.microsoft.com/office/drawing/2014/main" id="{0402A50C-66DD-43F9-EA3D-E07AD3A26C93}"/>
              </a:ext>
            </a:extLst>
          </p:cNvPr>
          <p:cNvPicPr>
            <a:picLocks noChangeAspect="1"/>
          </p:cNvPicPr>
          <p:nvPr/>
        </p:nvPicPr>
        <p:blipFill>
          <a:blip r:embed="rId3"/>
          <a:stretch>
            <a:fillRect/>
          </a:stretch>
        </p:blipFill>
        <p:spPr>
          <a:xfrm>
            <a:off x="6625877" y="2195252"/>
            <a:ext cx="4910986" cy="1131388"/>
          </a:xfrm>
          <a:prstGeom prst="rect">
            <a:avLst/>
          </a:prstGeom>
        </p:spPr>
      </p:pic>
    </p:spTree>
    <p:extLst>
      <p:ext uri="{BB962C8B-B14F-4D97-AF65-F5344CB8AC3E}">
        <p14:creationId xmlns:p14="http://schemas.microsoft.com/office/powerpoint/2010/main" val="29585081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DAB7F-0CAC-12A3-ACB7-8713A1CA6F73}"/>
              </a:ext>
            </a:extLst>
          </p:cNvPr>
          <p:cNvSpPr>
            <a:spLocks noGrp="1"/>
          </p:cNvSpPr>
          <p:nvPr>
            <p:ph type="title"/>
          </p:nvPr>
        </p:nvSpPr>
        <p:spPr/>
        <p:txBody>
          <a:bodyPr>
            <a:normAutofit/>
          </a:bodyPr>
          <a:lstStyle/>
          <a:p>
            <a:r>
              <a:rPr lang="en-US" dirty="0">
                <a:ea typeface="+mj-lt"/>
                <a:cs typeface="+mj-lt"/>
              </a:rPr>
              <a:t>Jaccard and Cosine</a:t>
            </a:r>
          </a:p>
        </p:txBody>
      </p:sp>
      <p:sp>
        <p:nvSpPr>
          <p:cNvPr id="3" name="Content Placeholder 2">
            <a:extLst>
              <a:ext uri="{FF2B5EF4-FFF2-40B4-BE49-F238E27FC236}">
                <a16:creationId xmlns:a16="http://schemas.microsoft.com/office/drawing/2014/main" id="{CACD74CC-8CC6-4DB5-B9DE-EC25ABA23A6C}"/>
              </a:ext>
            </a:extLst>
          </p:cNvPr>
          <p:cNvSpPr>
            <a:spLocks noGrp="1"/>
          </p:cNvSpPr>
          <p:nvPr>
            <p:ph idx="1"/>
          </p:nvPr>
        </p:nvSpPr>
        <p:spPr>
          <a:xfrm>
            <a:off x="794568" y="1772666"/>
            <a:ext cx="5152372" cy="2426292"/>
          </a:xfrm>
        </p:spPr>
        <p:txBody>
          <a:bodyPr vert="horz" lIns="0" tIns="45720" rIns="0" bIns="45720" rtlCol="0" anchor="t">
            <a:normAutofit/>
          </a:bodyPr>
          <a:lstStyle/>
          <a:p>
            <a:pPr marL="0" indent="0">
              <a:buNone/>
            </a:pPr>
            <a:r>
              <a:rPr lang="en-US" dirty="0">
                <a:ea typeface="+mn-lt"/>
                <a:cs typeface="+mn-lt"/>
              </a:rPr>
              <a:t>The Jaccard function processes the text, then matches the text, and gets the amount of the same tokens divided by the total tokens.</a:t>
            </a:r>
          </a:p>
          <a:p>
            <a:pPr marL="0" indent="0">
              <a:buNone/>
            </a:pPr>
            <a:endParaRPr lang="en-US" dirty="0">
              <a:ea typeface="Calibri" panose="020F0502020204030204"/>
              <a:cs typeface="Calibri" panose="020F0502020204030204"/>
            </a:endParaRPr>
          </a:p>
          <a:p>
            <a:pPr marL="0" indent="0">
              <a:buNone/>
            </a:pPr>
            <a:r>
              <a:rPr lang="en-US" dirty="0">
                <a:ea typeface="Calibri" panose="020F0502020204030204"/>
                <a:cs typeface="Calibri" panose="020F0502020204030204"/>
              </a:rPr>
              <a:t>The Cosine function processes the text and then obtains the feature data, </a:t>
            </a:r>
            <a:r>
              <a:rPr lang="en-US" dirty="0">
                <a:ea typeface="+mn-lt"/>
                <a:cs typeface="+mn-lt"/>
              </a:rPr>
              <a:t>a matrix of TF-IDF(term frequency-inverse document frequency) features</a:t>
            </a:r>
            <a:r>
              <a:rPr lang="en-US" dirty="0">
                <a:ea typeface="Calibri" panose="020F0502020204030204"/>
                <a:cs typeface="Calibri" panose="020F0502020204030204"/>
              </a:rPr>
              <a:t>.</a:t>
            </a:r>
          </a:p>
          <a:p>
            <a:pPr marL="0" indent="0">
              <a:buNone/>
            </a:pPr>
            <a:endParaRPr lang="en-US">
              <a:ea typeface="Calibri" panose="020F0502020204030204"/>
              <a:cs typeface="Calibri" panose="020F0502020204030204"/>
            </a:endParaRPr>
          </a:p>
          <a:p>
            <a:pPr marL="0" indent="0">
              <a:buNone/>
            </a:pPr>
            <a:endParaRPr lang="en-US" dirty="0">
              <a:ea typeface="Calibri" panose="020F0502020204030204"/>
              <a:cs typeface="Calibri" panose="020F0502020204030204"/>
            </a:endParaRPr>
          </a:p>
        </p:txBody>
      </p:sp>
      <p:pic>
        <p:nvPicPr>
          <p:cNvPr id="4" name="Picture 3" descr="A screen shot of a computer code&#10;&#10;Description automatically generated">
            <a:extLst>
              <a:ext uri="{FF2B5EF4-FFF2-40B4-BE49-F238E27FC236}">
                <a16:creationId xmlns:a16="http://schemas.microsoft.com/office/drawing/2014/main" id="{6EE33D91-A132-946C-7DB2-8DAA50AF5FE8}"/>
              </a:ext>
            </a:extLst>
          </p:cNvPr>
          <p:cNvPicPr>
            <a:picLocks noChangeAspect="1"/>
          </p:cNvPicPr>
          <p:nvPr/>
        </p:nvPicPr>
        <p:blipFill>
          <a:blip r:embed="rId2"/>
          <a:stretch>
            <a:fillRect/>
          </a:stretch>
        </p:blipFill>
        <p:spPr>
          <a:xfrm>
            <a:off x="6245986" y="1777195"/>
            <a:ext cx="5358709" cy="2218021"/>
          </a:xfrm>
          <a:prstGeom prst="rect">
            <a:avLst/>
          </a:prstGeom>
        </p:spPr>
      </p:pic>
      <p:pic>
        <p:nvPicPr>
          <p:cNvPr id="5" name="Picture 4" descr="A screen shot of a computer&#10;&#10;Description automatically generated">
            <a:extLst>
              <a:ext uri="{FF2B5EF4-FFF2-40B4-BE49-F238E27FC236}">
                <a16:creationId xmlns:a16="http://schemas.microsoft.com/office/drawing/2014/main" id="{0218F745-F908-B613-44FA-7CC896CD71C9}"/>
              </a:ext>
            </a:extLst>
          </p:cNvPr>
          <p:cNvPicPr>
            <a:picLocks noChangeAspect="1"/>
          </p:cNvPicPr>
          <p:nvPr/>
        </p:nvPicPr>
        <p:blipFill>
          <a:blip r:embed="rId3"/>
          <a:stretch>
            <a:fillRect/>
          </a:stretch>
        </p:blipFill>
        <p:spPr>
          <a:xfrm>
            <a:off x="4519807" y="4142760"/>
            <a:ext cx="7588685" cy="2058889"/>
          </a:xfrm>
          <a:prstGeom prst="rect">
            <a:avLst/>
          </a:prstGeom>
        </p:spPr>
      </p:pic>
      <p:sp>
        <p:nvSpPr>
          <p:cNvPr id="8" name="Content Placeholder 2">
            <a:extLst>
              <a:ext uri="{FF2B5EF4-FFF2-40B4-BE49-F238E27FC236}">
                <a16:creationId xmlns:a16="http://schemas.microsoft.com/office/drawing/2014/main" id="{46D614B1-AC50-57B3-F963-95358F3F9896}"/>
              </a:ext>
            </a:extLst>
          </p:cNvPr>
          <p:cNvSpPr txBox="1">
            <a:spLocks/>
          </p:cNvSpPr>
          <p:nvPr/>
        </p:nvSpPr>
        <p:spPr>
          <a:xfrm>
            <a:off x="790393" y="4430271"/>
            <a:ext cx="3638812" cy="1048429"/>
          </a:xfrm>
          <a:prstGeom prst="rect">
            <a:avLst/>
          </a:prstGeom>
        </p:spPr>
        <p:txBody>
          <a:bodyPr vert="horz" lIns="0" tIns="45720" rIns="0" bIns="45720" rtlCol="0" anchor="t">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None/>
            </a:pPr>
            <a:r>
              <a:rPr lang="en-US" dirty="0">
                <a:ea typeface="+mn-lt"/>
                <a:cs typeface="+mn-lt"/>
              </a:rPr>
              <a:t>Then</a:t>
            </a:r>
            <a:r>
              <a:rPr lang="en-US" dirty="0">
                <a:ea typeface="Calibri" panose="020F0502020204030204"/>
                <a:cs typeface="Calibri" panose="020F0502020204030204"/>
              </a:rPr>
              <a:t> convers these into sets that can be compared to</a:t>
            </a:r>
            <a:r>
              <a:rPr lang="en-US" dirty="0">
                <a:ea typeface="+mn-lt"/>
                <a:cs typeface="+mn-lt"/>
              </a:rPr>
              <a:t> find </a:t>
            </a:r>
            <a:r>
              <a:rPr lang="en-US" dirty="0">
                <a:ea typeface="Calibri" panose="020F0502020204030204"/>
                <a:cs typeface="Calibri" panose="020F0502020204030204"/>
              </a:rPr>
              <a:t>the cosine similarity.</a:t>
            </a:r>
            <a:endParaRPr lang="en-US" dirty="0">
              <a:solidFill>
                <a:srgbClr val="000000"/>
              </a:solidFill>
              <a:ea typeface="Calibri" panose="020F0502020204030204"/>
              <a:cs typeface="Calibri" panose="020F0502020204030204"/>
            </a:endParaRPr>
          </a:p>
        </p:txBody>
      </p:sp>
    </p:spTree>
    <p:extLst>
      <p:ext uri="{BB962C8B-B14F-4D97-AF65-F5344CB8AC3E}">
        <p14:creationId xmlns:p14="http://schemas.microsoft.com/office/powerpoint/2010/main" val="15732288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DAB7F-0CAC-12A3-ACB7-8713A1CA6F73}"/>
              </a:ext>
            </a:extLst>
          </p:cNvPr>
          <p:cNvSpPr>
            <a:spLocks noGrp="1"/>
          </p:cNvSpPr>
          <p:nvPr>
            <p:ph type="title"/>
          </p:nvPr>
        </p:nvSpPr>
        <p:spPr/>
        <p:txBody>
          <a:bodyPr>
            <a:normAutofit/>
          </a:bodyPr>
          <a:lstStyle/>
          <a:p>
            <a:r>
              <a:rPr lang="en-US" dirty="0">
                <a:ea typeface="+mj-lt"/>
                <a:cs typeface="+mj-lt"/>
              </a:rPr>
              <a:t>RAG-Implementation</a:t>
            </a:r>
            <a:endParaRPr lang="en-US" dirty="0"/>
          </a:p>
        </p:txBody>
      </p:sp>
      <p:sp>
        <p:nvSpPr>
          <p:cNvPr id="3" name="Content Placeholder 2">
            <a:extLst>
              <a:ext uri="{FF2B5EF4-FFF2-40B4-BE49-F238E27FC236}">
                <a16:creationId xmlns:a16="http://schemas.microsoft.com/office/drawing/2014/main" id="{CACD74CC-8CC6-4DB5-B9DE-EC25ABA23A6C}"/>
              </a:ext>
            </a:extLst>
          </p:cNvPr>
          <p:cNvSpPr>
            <a:spLocks noGrp="1"/>
          </p:cNvSpPr>
          <p:nvPr>
            <p:ph idx="1"/>
          </p:nvPr>
        </p:nvSpPr>
        <p:spPr>
          <a:xfrm>
            <a:off x="1097280" y="1845734"/>
            <a:ext cx="5027113" cy="4023360"/>
          </a:xfrm>
        </p:spPr>
        <p:txBody>
          <a:bodyPr vert="horz" lIns="0" tIns="45720" rIns="0" bIns="45720" rtlCol="0" anchor="t">
            <a:normAutofit/>
          </a:bodyPr>
          <a:lstStyle/>
          <a:p>
            <a:pPr marL="0" indent="0">
              <a:buNone/>
            </a:pPr>
            <a:r>
              <a:rPr lang="en-US" dirty="0">
                <a:ea typeface="Calibri" panose="020F0502020204030204"/>
                <a:cs typeface="Calibri" panose="020F0502020204030204"/>
              </a:rPr>
              <a:t>When creating the response, the RAG-based system requires context as an argument.</a:t>
            </a:r>
          </a:p>
          <a:p>
            <a:pPr marL="0" indent="0">
              <a:buNone/>
            </a:pPr>
            <a:endParaRPr lang="en-US" dirty="0">
              <a:ea typeface="Calibri" panose="020F0502020204030204"/>
              <a:cs typeface="Calibri" panose="020F0502020204030204"/>
            </a:endParaRPr>
          </a:p>
          <a:p>
            <a:pPr marL="0" indent="0">
              <a:buNone/>
            </a:pPr>
            <a:r>
              <a:rPr lang="en-US" dirty="0">
                <a:ea typeface="Calibri" panose="020F0502020204030204"/>
                <a:cs typeface="Calibri" panose="020F0502020204030204"/>
              </a:rPr>
              <a:t>It uses the template to infer the significance of the context when passed to the LLM and then the LLM answers the question based on the context to generate a similar response and ensure that the context is represented in the response.</a:t>
            </a:r>
          </a:p>
          <a:p>
            <a:pPr marL="0" indent="0">
              <a:buNone/>
            </a:pPr>
            <a:endParaRPr lang="en-US">
              <a:ea typeface="Calibri" panose="020F0502020204030204"/>
              <a:cs typeface="Calibri" panose="020F0502020204030204"/>
            </a:endParaRPr>
          </a:p>
          <a:p>
            <a:pPr marL="0" indent="0">
              <a:buNone/>
            </a:pPr>
            <a:r>
              <a:rPr lang="en-US" dirty="0">
                <a:ea typeface="Calibri" panose="020F0502020204030204"/>
                <a:cs typeface="Calibri" panose="020F0502020204030204"/>
              </a:rPr>
              <a:t>Parser converts the output into a string.</a:t>
            </a:r>
          </a:p>
          <a:p>
            <a:pPr marL="0" indent="0">
              <a:buNone/>
            </a:pPr>
            <a:endParaRPr lang="en-US" dirty="0">
              <a:ea typeface="Calibri" panose="020F0502020204030204"/>
              <a:cs typeface="Calibri" panose="020F0502020204030204"/>
            </a:endParaRPr>
          </a:p>
        </p:txBody>
      </p:sp>
      <p:pic>
        <p:nvPicPr>
          <p:cNvPr id="5" name="Picture 4" descr="A screenshot of a computer program&#10;&#10;Description automatically generated">
            <a:extLst>
              <a:ext uri="{FF2B5EF4-FFF2-40B4-BE49-F238E27FC236}">
                <a16:creationId xmlns:a16="http://schemas.microsoft.com/office/drawing/2014/main" id="{9D51AF26-475F-E881-875E-2FAF6EEB9C94}"/>
              </a:ext>
            </a:extLst>
          </p:cNvPr>
          <p:cNvPicPr>
            <a:picLocks noChangeAspect="1"/>
          </p:cNvPicPr>
          <p:nvPr/>
        </p:nvPicPr>
        <p:blipFill>
          <a:blip r:embed="rId2"/>
          <a:stretch>
            <a:fillRect/>
          </a:stretch>
        </p:blipFill>
        <p:spPr>
          <a:xfrm>
            <a:off x="6381451" y="1847588"/>
            <a:ext cx="5097124" cy="4258851"/>
          </a:xfrm>
          <a:prstGeom prst="rect">
            <a:avLst/>
          </a:prstGeom>
        </p:spPr>
      </p:pic>
    </p:spTree>
    <p:extLst>
      <p:ext uri="{BB962C8B-B14F-4D97-AF65-F5344CB8AC3E}">
        <p14:creationId xmlns:p14="http://schemas.microsoft.com/office/powerpoint/2010/main" val="38826345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14DD8-0D29-C547-B3C8-ED85D3EC2704}"/>
              </a:ext>
            </a:extLst>
          </p:cNvPr>
          <p:cNvSpPr>
            <a:spLocks noGrp="1"/>
          </p:cNvSpPr>
          <p:nvPr>
            <p:ph type="title"/>
          </p:nvPr>
        </p:nvSpPr>
        <p:spPr/>
        <p:txBody>
          <a:bodyPr/>
          <a:lstStyle/>
          <a:p>
            <a:r>
              <a:rPr lang="en-US">
                <a:ea typeface="Calibri Light"/>
                <a:cs typeface="Calibri Light"/>
              </a:rPr>
              <a:t>Simple Demo</a:t>
            </a:r>
            <a:endParaRPr lang="en-US"/>
          </a:p>
        </p:txBody>
      </p:sp>
      <p:sp>
        <p:nvSpPr>
          <p:cNvPr id="3" name="Content Placeholder 2">
            <a:extLst>
              <a:ext uri="{FF2B5EF4-FFF2-40B4-BE49-F238E27FC236}">
                <a16:creationId xmlns:a16="http://schemas.microsoft.com/office/drawing/2014/main" id="{23BFD157-F186-20A3-3107-4086EF2D1A8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3116235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14DD8-0D29-C547-B3C8-ED85D3EC2704}"/>
              </a:ext>
            </a:extLst>
          </p:cNvPr>
          <p:cNvSpPr>
            <a:spLocks noGrp="1"/>
          </p:cNvSpPr>
          <p:nvPr>
            <p:ph type="title"/>
          </p:nvPr>
        </p:nvSpPr>
        <p:spPr/>
        <p:txBody>
          <a:bodyPr/>
          <a:lstStyle/>
          <a:p>
            <a:r>
              <a:rPr lang="en-US" dirty="0">
                <a:ea typeface="Calibri Light"/>
                <a:cs typeface="Calibri Light"/>
              </a:rPr>
              <a:t>Results</a:t>
            </a:r>
            <a:endParaRPr lang="en-US" dirty="0">
              <a:solidFill>
                <a:srgbClr val="000000"/>
              </a:solidFill>
              <a:ea typeface="Calibri Light"/>
              <a:cs typeface="Calibri Light"/>
            </a:endParaRPr>
          </a:p>
        </p:txBody>
      </p:sp>
      <p:sp>
        <p:nvSpPr>
          <p:cNvPr id="3" name="Content Placeholder 2">
            <a:extLst>
              <a:ext uri="{FF2B5EF4-FFF2-40B4-BE49-F238E27FC236}">
                <a16:creationId xmlns:a16="http://schemas.microsoft.com/office/drawing/2014/main" id="{23BFD157-F186-20A3-3107-4086EF2D1A82}"/>
              </a:ext>
            </a:extLst>
          </p:cNvPr>
          <p:cNvSpPr>
            <a:spLocks noGrp="1"/>
          </p:cNvSpPr>
          <p:nvPr>
            <p:ph idx="1"/>
          </p:nvPr>
        </p:nvSpPr>
        <p:spPr>
          <a:xfrm>
            <a:off x="1097280" y="1845734"/>
            <a:ext cx="10058400" cy="4326072"/>
          </a:xfrm>
        </p:spPr>
        <p:txBody>
          <a:bodyPr vert="horz" lIns="0" tIns="45720" rIns="0" bIns="45720" rtlCol="0" anchor="t">
            <a:normAutofit lnSpcReduction="10000"/>
          </a:bodyPr>
          <a:lstStyle/>
          <a:p>
            <a:pPr>
              <a:buNone/>
            </a:pPr>
            <a:r>
              <a:rPr lang="en-US" dirty="0">
                <a:ea typeface="Calibri" panose="020F0502020204030204"/>
                <a:cs typeface="Calibri" panose="020F0502020204030204"/>
              </a:rPr>
              <a:t>This section details the different experiments conducted to test the system's effectiveness.</a:t>
            </a:r>
            <a:endParaRPr lang="en-US" dirty="0">
              <a:solidFill>
                <a:srgbClr val="000000"/>
              </a:solidFill>
              <a:ea typeface="Calibri" panose="020F0502020204030204"/>
              <a:cs typeface="Calibri" panose="020F0502020204030204"/>
            </a:endParaRPr>
          </a:p>
          <a:p>
            <a:pPr marL="0" indent="0">
              <a:buNone/>
            </a:pPr>
            <a:endParaRPr lang="en-US" dirty="0">
              <a:ea typeface="Calibri" panose="020F0502020204030204"/>
              <a:cs typeface="Calibri" panose="020F0502020204030204"/>
            </a:endParaRPr>
          </a:p>
          <a:p>
            <a:pPr marL="0" indent="0">
              <a:buNone/>
            </a:pPr>
            <a:r>
              <a:rPr lang="en-US" dirty="0">
                <a:ea typeface="Calibri" panose="020F0502020204030204"/>
                <a:cs typeface="Calibri" panose="020F0502020204030204"/>
              </a:rPr>
              <a:t>The prompts used for testing are: </a:t>
            </a:r>
          </a:p>
          <a:p>
            <a:pPr marL="0" indent="0">
              <a:buNone/>
            </a:pPr>
            <a:r>
              <a:rPr lang="en-US" dirty="0">
                <a:ea typeface="+mn-lt"/>
                <a:cs typeface="+mn-lt"/>
              </a:rPr>
              <a:t>Part 1: </a:t>
            </a:r>
            <a:r>
              <a:rPr lang="en-US" dirty="0">
                <a:solidFill>
                  <a:srgbClr val="404040"/>
                </a:solidFill>
                <a:latin typeface="Calibri" panose="020F0502020204030204"/>
                <a:ea typeface="Calibri" panose="020F0502020204030204"/>
                <a:cs typeface="Calibri" panose="020F0502020204030204"/>
              </a:rPr>
              <a:t>Vague</a:t>
            </a:r>
            <a:r>
              <a:rPr lang="en-US" dirty="0">
                <a:ea typeface="Calibri" panose="020F0502020204030204"/>
                <a:cs typeface="Calibri" panose="020F0502020204030204"/>
              </a:rPr>
              <a:t> Prompt: </a:t>
            </a:r>
            <a:r>
              <a:rPr lang="en-US" dirty="0">
                <a:ea typeface="+mn-lt"/>
                <a:cs typeface="+mn-lt"/>
              </a:rPr>
              <a:t>"Write a paragraph about dogs"</a:t>
            </a:r>
            <a:endParaRPr lang="en-US" dirty="0"/>
          </a:p>
          <a:p>
            <a:pPr marL="0" indent="0">
              <a:buNone/>
            </a:pPr>
            <a:endParaRPr lang="en-US" dirty="0">
              <a:ea typeface="Calibri" panose="020F0502020204030204"/>
              <a:cs typeface="Calibri" panose="020F0502020204030204"/>
            </a:endParaRPr>
          </a:p>
          <a:p>
            <a:pPr>
              <a:buNone/>
            </a:pPr>
            <a:r>
              <a:rPr lang="en-US" dirty="0">
                <a:ea typeface="+mn-lt"/>
                <a:cs typeface="+mn-lt"/>
              </a:rPr>
              <a:t>Part 2: Question(The generated code fits the question but is not obtained from using the question as the prompt):   Write a paragraph about what discovery in the last 100 years has been most beneficial: </a:t>
            </a:r>
            <a:endParaRPr lang="en-US" dirty="0"/>
          </a:p>
          <a:p>
            <a:pPr marL="0" indent="0">
              <a:buNone/>
            </a:pPr>
            <a:r>
              <a:rPr lang="en-US" dirty="0">
                <a:ea typeface="+mn-lt"/>
                <a:cs typeface="+mn-lt"/>
              </a:rPr>
              <a:t>Actual Prompt:  Write a paragraph about the beneficial discovery of computers: </a:t>
            </a:r>
            <a:endParaRPr lang="en-US" dirty="0"/>
          </a:p>
          <a:p>
            <a:pPr marL="0" indent="0">
              <a:buNone/>
            </a:pPr>
            <a:endParaRPr lang="en-US" dirty="0">
              <a:ea typeface="Calibri" panose="020F0502020204030204"/>
              <a:cs typeface="Calibri" panose="020F0502020204030204"/>
            </a:endParaRPr>
          </a:p>
          <a:p>
            <a:pPr marL="0" indent="0">
              <a:buNone/>
            </a:pPr>
            <a:r>
              <a:rPr lang="en-US" dirty="0">
                <a:ea typeface="Calibri" panose="020F0502020204030204"/>
                <a:cs typeface="Calibri" panose="020F0502020204030204"/>
              </a:rPr>
              <a:t>The number of generated responses in the test case is also evaluated.</a:t>
            </a:r>
            <a:endParaRPr lang="en-US" dirty="0"/>
          </a:p>
          <a:p>
            <a:pPr marL="0" indent="0">
              <a:buNone/>
            </a:pPr>
            <a:endParaRPr lang="en-US" dirty="0">
              <a:ea typeface="Calibri" panose="020F0502020204030204"/>
              <a:cs typeface="Calibri" panose="020F0502020204030204"/>
            </a:endParaRPr>
          </a:p>
        </p:txBody>
      </p:sp>
    </p:spTree>
    <p:extLst>
      <p:ext uri="{BB962C8B-B14F-4D97-AF65-F5344CB8AC3E}">
        <p14:creationId xmlns:p14="http://schemas.microsoft.com/office/powerpoint/2010/main" val="10006437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14DD8-0D29-C547-B3C8-ED85D3EC2704}"/>
              </a:ext>
            </a:extLst>
          </p:cNvPr>
          <p:cNvSpPr>
            <a:spLocks noGrp="1"/>
          </p:cNvSpPr>
          <p:nvPr>
            <p:ph type="title"/>
          </p:nvPr>
        </p:nvSpPr>
        <p:spPr/>
        <p:txBody>
          <a:bodyPr/>
          <a:lstStyle/>
          <a:p>
            <a:r>
              <a:rPr lang="en-US" dirty="0">
                <a:ea typeface="Calibri Light"/>
                <a:cs typeface="Calibri Light"/>
              </a:rPr>
              <a:t>Results</a:t>
            </a:r>
            <a:endParaRPr lang="en-US" dirty="0">
              <a:solidFill>
                <a:srgbClr val="000000"/>
              </a:solidFill>
              <a:ea typeface="Calibri Light"/>
              <a:cs typeface="Calibri Light"/>
            </a:endParaRPr>
          </a:p>
        </p:txBody>
      </p:sp>
      <p:sp>
        <p:nvSpPr>
          <p:cNvPr id="3" name="Content Placeholder 2">
            <a:extLst>
              <a:ext uri="{FF2B5EF4-FFF2-40B4-BE49-F238E27FC236}">
                <a16:creationId xmlns:a16="http://schemas.microsoft.com/office/drawing/2014/main" id="{23BFD157-F186-20A3-3107-4086EF2D1A82}"/>
              </a:ext>
            </a:extLst>
          </p:cNvPr>
          <p:cNvSpPr>
            <a:spLocks noGrp="1"/>
          </p:cNvSpPr>
          <p:nvPr>
            <p:ph idx="1"/>
          </p:nvPr>
        </p:nvSpPr>
        <p:spPr/>
        <p:txBody>
          <a:bodyPr vert="horz" lIns="0" tIns="45720" rIns="0" bIns="45720" rtlCol="0" anchor="t">
            <a:normAutofit/>
          </a:bodyPr>
          <a:lstStyle/>
          <a:p>
            <a:pPr marL="0" indent="0">
              <a:buNone/>
            </a:pPr>
            <a:r>
              <a:rPr lang="en-US" dirty="0">
                <a:ea typeface="Calibri" panose="020F0502020204030204"/>
                <a:cs typeface="Calibri" panose="020F0502020204030204"/>
              </a:rPr>
              <a:t>The table below shows the effect of having an opinionated prompt while using the non-RAG system</a:t>
            </a:r>
          </a:p>
          <a:p>
            <a:pPr marL="0" indent="0">
              <a:buNone/>
            </a:pPr>
            <a:endParaRPr lang="en-US" dirty="0">
              <a:ea typeface="Calibri" panose="020F0502020204030204"/>
              <a:cs typeface="Calibri" panose="020F0502020204030204"/>
            </a:endParaRPr>
          </a:p>
          <a:p>
            <a:pPr marL="0" indent="0">
              <a:buNone/>
            </a:pPr>
            <a:r>
              <a:rPr lang="en-US" dirty="0">
                <a:ea typeface="+mn-lt"/>
                <a:cs typeface="+mn-lt"/>
              </a:rPr>
              <a:t>Because the AI does not know what the user thinks is the most beneficial discovery, it writes a paragraph about penicillin, so the derivative case is filled with prompts on the wrong topic. </a:t>
            </a:r>
            <a:endParaRPr lang="en-US" dirty="0"/>
          </a:p>
        </p:txBody>
      </p:sp>
      <p:pic>
        <p:nvPicPr>
          <p:cNvPr id="5" name="Content Placeholder 6" descr="A black text on a white background&#10;&#10;Description automatically generated">
            <a:extLst>
              <a:ext uri="{FF2B5EF4-FFF2-40B4-BE49-F238E27FC236}">
                <a16:creationId xmlns:a16="http://schemas.microsoft.com/office/drawing/2014/main" id="{C0003A2D-2C8F-AA94-E5B3-24E0B418F5D8}"/>
              </a:ext>
            </a:extLst>
          </p:cNvPr>
          <p:cNvPicPr>
            <a:picLocks noChangeAspect="1"/>
          </p:cNvPicPr>
          <p:nvPr/>
        </p:nvPicPr>
        <p:blipFill>
          <a:blip r:embed="rId2"/>
          <a:stretch>
            <a:fillRect/>
          </a:stretch>
        </p:blipFill>
        <p:spPr>
          <a:xfrm>
            <a:off x="2006934" y="3921232"/>
            <a:ext cx="8172450" cy="1952625"/>
          </a:xfrm>
          <a:prstGeom prst="rect">
            <a:avLst/>
          </a:prstGeom>
        </p:spPr>
      </p:pic>
    </p:spTree>
    <p:extLst>
      <p:ext uri="{BB962C8B-B14F-4D97-AF65-F5344CB8AC3E}">
        <p14:creationId xmlns:p14="http://schemas.microsoft.com/office/powerpoint/2010/main" val="2545273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3C2AB-D6B1-C615-79E6-27E29FD73C25}"/>
              </a:ext>
            </a:extLst>
          </p:cNvPr>
          <p:cNvSpPr>
            <a:spLocks noGrp="1"/>
          </p:cNvSpPr>
          <p:nvPr>
            <p:ph type="title"/>
          </p:nvPr>
        </p:nvSpPr>
        <p:spPr/>
        <p:txBody>
          <a:bodyPr>
            <a:normAutofit/>
          </a:bodyPr>
          <a:lstStyle/>
          <a:p>
            <a:r>
              <a:rPr lang="en-US" dirty="0">
                <a:ea typeface="+mj-lt"/>
                <a:cs typeface="+mj-lt"/>
              </a:rPr>
              <a:t>Experimental Results</a:t>
            </a:r>
          </a:p>
        </p:txBody>
      </p:sp>
      <p:pic>
        <p:nvPicPr>
          <p:cNvPr id="4" name="Content Placeholder 3" descr="A graph with a red line&#10;&#10;Description automatically generated">
            <a:extLst>
              <a:ext uri="{FF2B5EF4-FFF2-40B4-BE49-F238E27FC236}">
                <a16:creationId xmlns:a16="http://schemas.microsoft.com/office/drawing/2014/main" id="{578D3CBF-4B34-5640-7BE8-A6C941D133D4}"/>
              </a:ext>
            </a:extLst>
          </p:cNvPr>
          <p:cNvPicPr>
            <a:picLocks noGrp="1" noChangeAspect="1"/>
          </p:cNvPicPr>
          <p:nvPr>
            <p:ph idx="1"/>
          </p:nvPr>
        </p:nvPicPr>
        <p:blipFill>
          <a:blip r:embed="rId2"/>
          <a:stretch>
            <a:fillRect/>
          </a:stretch>
        </p:blipFill>
        <p:spPr>
          <a:xfrm>
            <a:off x="408277" y="2098624"/>
            <a:ext cx="5442858" cy="3370303"/>
          </a:xfrm>
        </p:spPr>
      </p:pic>
      <p:pic>
        <p:nvPicPr>
          <p:cNvPr id="5" name="Picture 4" descr="A graph with a line&#10;&#10;Description automatically generated">
            <a:extLst>
              <a:ext uri="{FF2B5EF4-FFF2-40B4-BE49-F238E27FC236}">
                <a16:creationId xmlns:a16="http://schemas.microsoft.com/office/drawing/2014/main" id="{B581C23C-3FDE-8637-0A89-1E8D1E5FFCA2}"/>
              </a:ext>
            </a:extLst>
          </p:cNvPr>
          <p:cNvPicPr>
            <a:picLocks noChangeAspect="1"/>
          </p:cNvPicPr>
          <p:nvPr/>
        </p:nvPicPr>
        <p:blipFill>
          <a:blip r:embed="rId3"/>
          <a:stretch>
            <a:fillRect/>
          </a:stretch>
        </p:blipFill>
        <p:spPr>
          <a:xfrm>
            <a:off x="6294505" y="2099235"/>
            <a:ext cx="5436454" cy="3370302"/>
          </a:xfrm>
          <a:prstGeom prst="rect">
            <a:avLst/>
          </a:prstGeom>
        </p:spPr>
      </p:pic>
    </p:spTree>
    <p:extLst>
      <p:ext uri="{BB962C8B-B14F-4D97-AF65-F5344CB8AC3E}">
        <p14:creationId xmlns:p14="http://schemas.microsoft.com/office/powerpoint/2010/main" val="12207002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3C2AB-D6B1-C615-79E6-27E29FD73C25}"/>
              </a:ext>
            </a:extLst>
          </p:cNvPr>
          <p:cNvSpPr>
            <a:spLocks noGrp="1"/>
          </p:cNvSpPr>
          <p:nvPr>
            <p:ph type="title"/>
          </p:nvPr>
        </p:nvSpPr>
        <p:spPr/>
        <p:txBody>
          <a:bodyPr>
            <a:normAutofit/>
          </a:bodyPr>
          <a:lstStyle/>
          <a:p>
            <a:r>
              <a:rPr lang="en-US" dirty="0">
                <a:ea typeface="+mj-lt"/>
                <a:cs typeface="+mj-lt"/>
              </a:rPr>
              <a:t>Results</a:t>
            </a:r>
          </a:p>
        </p:txBody>
      </p:sp>
      <p:sp>
        <p:nvSpPr>
          <p:cNvPr id="5" name="Content Placeholder 4">
            <a:extLst>
              <a:ext uri="{FF2B5EF4-FFF2-40B4-BE49-F238E27FC236}">
                <a16:creationId xmlns:a16="http://schemas.microsoft.com/office/drawing/2014/main" id="{065EC109-7CB9-8D7C-05BE-2A98C8381A20}"/>
              </a:ext>
            </a:extLst>
          </p:cNvPr>
          <p:cNvSpPr>
            <a:spLocks noGrp="1"/>
          </p:cNvSpPr>
          <p:nvPr>
            <p:ph idx="1"/>
          </p:nvPr>
        </p:nvSpPr>
        <p:spPr>
          <a:xfrm>
            <a:off x="1097280" y="1845734"/>
            <a:ext cx="10054189" cy="4023360"/>
          </a:xfrm>
        </p:spPr>
        <p:txBody>
          <a:bodyPr vert="horz" lIns="0" tIns="45720" rIns="0" bIns="45720" rtlCol="0" anchor="t">
            <a:normAutofit/>
          </a:bodyPr>
          <a:lstStyle/>
          <a:p>
            <a:pPr marL="0" indent="0">
              <a:buNone/>
            </a:pPr>
            <a:r>
              <a:rPr lang="en-US" dirty="0">
                <a:ea typeface="+mn-lt"/>
                <a:cs typeface="+mn-lt"/>
              </a:rPr>
              <a:t>This table highlights important data in the graphs, such as the maximum values for AI and human generation for the similarity metrics.</a:t>
            </a:r>
          </a:p>
          <a:p>
            <a:pPr marL="0" indent="0">
              <a:buNone/>
            </a:pPr>
            <a:endParaRPr lang="en-US" dirty="0">
              <a:ea typeface="+mn-lt"/>
              <a:cs typeface="+mn-lt"/>
            </a:endParaRPr>
          </a:p>
          <a:p>
            <a:pPr marL="0" indent="0">
              <a:buNone/>
            </a:pPr>
            <a:r>
              <a:rPr lang="en-US" dirty="0">
                <a:ea typeface="+mn-lt"/>
                <a:cs typeface="+mn-lt"/>
              </a:rPr>
              <a:t> The table also has a third column detailing the difference between AI text and human text for similarity metrics. The difference between the human and AI text acts like a confidence metric.</a:t>
            </a:r>
            <a:endParaRPr lang="en-US" dirty="0">
              <a:ea typeface="Calibri" panose="020F0502020204030204"/>
              <a:cs typeface="Calibri" panose="020F0502020204030204"/>
            </a:endParaRPr>
          </a:p>
        </p:txBody>
      </p:sp>
      <p:pic>
        <p:nvPicPr>
          <p:cNvPr id="3" name="Picture 2" descr="A close up of a number&#10;&#10;Description automatically generated">
            <a:extLst>
              <a:ext uri="{FF2B5EF4-FFF2-40B4-BE49-F238E27FC236}">
                <a16:creationId xmlns:a16="http://schemas.microsoft.com/office/drawing/2014/main" id="{9EA5EDD3-DC28-F88B-D0AC-4C63BB92618B}"/>
              </a:ext>
            </a:extLst>
          </p:cNvPr>
          <p:cNvPicPr>
            <a:picLocks noChangeAspect="1"/>
          </p:cNvPicPr>
          <p:nvPr/>
        </p:nvPicPr>
        <p:blipFill>
          <a:blip r:embed="rId2"/>
          <a:stretch>
            <a:fillRect/>
          </a:stretch>
        </p:blipFill>
        <p:spPr>
          <a:xfrm>
            <a:off x="4381157" y="3952414"/>
            <a:ext cx="6719711" cy="1650294"/>
          </a:xfrm>
          <a:prstGeom prst="rect">
            <a:avLst/>
          </a:prstGeom>
        </p:spPr>
      </p:pic>
    </p:spTree>
    <p:extLst>
      <p:ext uri="{BB962C8B-B14F-4D97-AF65-F5344CB8AC3E}">
        <p14:creationId xmlns:p14="http://schemas.microsoft.com/office/powerpoint/2010/main" val="39386886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14DD8-0D29-C547-B3C8-ED85D3EC2704}"/>
              </a:ext>
            </a:extLst>
          </p:cNvPr>
          <p:cNvSpPr>
            <a:spLocks noGrp="1"/>
          </p:cNvSpPr>
          <p:nvPr>
            <p:ph type="title"/>
          </p:nvPr>
        </p:nvSpPr>
        <p:spPr/>
        <p:txBody>
          <a:bodyPr/>
          <a:lstStyle/>
          <a:p>
            <a:r>
              <a:rPr lang="en-US" dirty="0">
                <a:ea typeface="Calibri Light"/>
                <a:cs typeface="Calibri Light"/>
              </a:rPr>
              <a:t>Results RAG</a:t>
            </a:r>
            <a:endParaRPr lang="en-US" dirty="0">
              <a:solidFill>
                <a:srgbClr val="000000"/>
              </a:solidFill>
              <a:ea typeface="Calibri Light"/>
              <a:cs typeface="Calibri Light"/>
            </a:endParaRPr>
          </a:p>
        </p:txBody>
      </p:sp>
      <p:sp>
        <p:nvSpPr>
          <p:cNvPr id="3" name="Content Placeholder 2">
            <a:extLst>
              <a:ext uri="{FF2B5EF4-FFF2-40B4-BE49-F238E27FC236}">
                <a16:creationId xmlns:a16="http://schemas.microsoft.com/office/drawing/2014/main" id="{23BFD157-F186-20A3-3107-4086EF2D1A82}"/>
              </a:ext>
            </a:extLst>
          </p:cNvPr>
          <p:cNvSpPr>
            <a:spLocks noGrp="1"/>
          </p:cNvSpPr>
          <p:nvPr>
            <p:ph idx="1"/>
          </p:nvPr>
        </p:nvSpPr>
        <p:spPr/>
        <p:txBody>
          <a:bodyPr vert="horz" lIns="0" tIns="45720" rIns="0" bIns="45720" rtlCol="0" anchor="t">
            <a:normAutofit/>
          </a:bodyPr>
          <a:lstStyle/>
          <a:p>
            <a:pPr marL="0" indent="0">
              <a:buNone/>
            </a:pPr>
            <a:r>
              <a:rPr lang="en-US" dirty="0">
                <a:ea typeface="Calibri" panose="020F0502020204030204"/>
                <a:cs typeface="Calibri" panose="020F0502020204030204"/>
              </a:rPr>
              <a:t>The table below shows the effect of having an opinionated prompt while using the RAG system</a:t>
            </a:r>
          </a:p>
          <a:p>
            <a:pPr marL="0" indent="0">
              <a:buNone/>
            </a:pPr>
            <a:endParaRPr lang="en-US" dirty="0">
              <a:ea typeface="Calibri" panose="020F0502020204030204"/>
              <a:cs typeface="Calibri" panose="020F0502020204030204"/>
            </a:endParaRPr>
          </a:p>
          <a:p>
            <a:pPr marL="0" indent="0">
              <a:buNone/>
            </a:pPr>
            <a:r>
              <a:rPr lang="en-US" dirty="0">
                <a:ea typeface="+mn-lt"/>
                <a:cs typeface="+mn-lt"/>
              </a:rPr>
              <a:t>The table shows that this model does, as when it created the derivative case, the system knew and had the context available to work out what specific discovery was being written about.</a:t>
            </a:r>
          </a:p>
        </p:txBody>
      </p:sp>
      <p:pic>
        <p:nvPicPr>
          <p:cNvPr id="6" name="Content Placeholder 4" descr="A close up of a number&#10;&#10;Description automatically generated">
            <a:extLst>
              <a:ext uri="{FF2B5EF4-FFF2-40B4-BE49-F238E27FC236}">
                <a16:creationId xmlns:a16="http://schemas.microsoft.com/office/drawing/2014/main" id="{473FD018-2C34-541B-04C9-E846BD181480}"/>
              </a:ext>
            </a:extLst>
          </p:cNvPr>
          <p:cNvPicPr>
            <a:picLocks noChangeAspect="1"/>
          </p:cNvPicPr>
          <p:nvPr/>
        </p:nvPicPr>
        <p:blipFill>
          <a:blip r:embed="rId2"/>
          <a:stretch>
            <a:fillRect/>
          </a:stretch>
        </p:blipFill>
        <p:spPr>
          <a:xfrm>
            <a:off x="1099963" y="3853120"/>
            <a:ext cx="6957484" cy="1630892"/>
          </a:xfrm>
          <a:prstGeom prst="rect">
            <a:avLst/>
          </a:prstGeom>
        </p:spPr>
      </p:pic>
    </p:spTree>
    <p:extLst>
      <p:ext uri="{BB962C8B-B14F-4D97-AF65-F5344CB8AC3E}">
        <p14:creationId xmlns:p14="http://schemas.microsoft.com/office/powerpoint/2010/main" val="24628542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3C2AB-D6B1-C615-79E6-27E29FD73C25}"/>
              </a:ext>
            </a:extLst>
          </p:cNvPr>
          <p:cNvSpPr>
            <a:spLocks noGrp="1"/>
          </p:cNvSpPr>
          <p:nvPr>
            <p:ph type="title"/>
          </p:nvPr>
        </p:nvSpPr>
        <p:spPr/>
        <p:txBody>
          <a:bodyPr>
            <a:normAutofit/>
          </a:bodyPr>
          <a:lstStyle/>
          <a:p>
            <a:r>
              <a:rPr lang="en-US" dirty="0">
                <a:ea typeface="+mj-lt"/>
                <a:cs typeface="+mj-lt"/>
              </a:rPr>
              <a:t>Experimental Results RAG</a:t>
            </a:r>
          </a:p>
        </p:txBody>
      </p:sp>
      <p:pic>
        <p:nvPicPr>
          <p:cNvPr id="11" name="Content Placeholder 10" descr="A graph showing the difference between text and a line&#10;&#10;Description automatically generated">
            <a:extLst>
              <a:ext uri="{FF2B5EF4-FFF2-40B4-BE49-F238E27FC236}">
                <a16:creationId xmlns:a16="http://schemas.microsoft.com/office/drawing/2014/main" id="{62660A60-96E1-E17C-A881-4430D4A42446}"/>
              </a:ext>
            </a:extLst>
          </p:cNvPr>
          <p:cNvPicPr>
            <a:picLocks noGrp="1" noChangeAspect="1"/>
          </p:cNvPicPr>
          <p:nvPr>
            <p:ph idx="1"/>
          </p:nvPr>
        </p:nvPicPr>
        <p:blipFill>
          <a:blip r:embed="rId2"/>
          <a:stretch>
            <a:fillRect/>
          </a:stretch>
        </p:blipFill>
        <p:spPr>
          <a:xfrm>
            <a:off x="499049" y="2193033"/>
            <a:ext cx="5301983" cy="3280655"/>
          </a:xfrm>
        </p:spPr>
      </p:pic>
      <p:pic>
        <p:nvPicPr>
          <p:cNvPr id="12" name="Picture 11" descr="A graph with a red line&#10;&#10;Description automatically generated">
            <a:extLst>
              <a:ext uri="{FF2B5EF4-FFF2-40B4-BE49-F238E27FC236}">
                <a16:creationId xmlns:a16="http://schemas.microsoft.com/office/drawing/2014/main" id="{097994D5-A741-4C55-1B19-8E2922997866}"/>
              </a:ext>
            </a:extLst>
          </p:cNvPr>
          <p:cNvPicPr>
            <a:picLocks noChangeAspect="1"/>
          </p:cNvPicPr>
          <p:nvPr/>
        </p:nvPicPr>
        <p:blipFill>
          <a:blip r:embed="rId3"/>
          <a:stretch>
            <a:fillRect/>
          </a:stretch>
        </p:blipFill>
        <p:spPr>
          <a:xfrm>
            <a:off x="6311699" y="2191433"/>
            <a:ext cx="5301983" cy="3280655"/>
          </a:xfrm>
          <a:prstGeom prst="rect">
            <a:avLst/>
          </a:prstGeom>
        </p:spPr>
      </p:pic>
    </p:spTree>
    <p:extLst>
      <p:ext uri="{BB962C8B-B14F-4D97-AF65-F5344CB8AC3E}">
        <p14:creationId xmlns:p14="http://schemas.microsoft.com/office/powerpoint/2010/main" val="998755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3C2AB-D6B1-C615-79E6-27E29FD73C25}"/>
              </a:ext>
            </a:extLst>
          </p:cNvPr>
          <p:cNvSpPr>
            <a:spLocks noGrp="1"/>
          </p:cNvSpPr>
          <p:nvPr>
            <p:ph type="title"/>
          </p:nvPr>
        </p:nvSpPr>
        <p:spPr/>
        <p:txBody>
          <a:bodyPr>
            <a:normAutofit/>
          </a:bodyPr>
          <a:lstStyle/>
          <a:p>
            <a:r>
              <a:rPr lang="en-US" dirty="0">
                <a:ea typeface="+mj-lt"/>
                <a:cs typeface="+mj-lt"/>
              </a:rPr>
              <a:t>Results RAG</a:t>
            </a:r>
          </a:p>
        </p:txBody>
      </p:sp>
      <p:sp>
        <p:nvSpPr>
          <p:cNvPr id="5" name="Content Placeholder 4">
            <a:extLst>
              <a:ext uri="{FF2B5EF4-FFF2-40B4-BE49-F238E27FC236}">
                <a16:creationId xmlns:a16="http://schemas.microsoft.com/office/drawing/2014/main" id="{065EC109-7CB9-8D7C-05BE-2A98C8381A20}"/>
              </a:ext>
            </a:extLst>
          </p:cNvPr>
          <p:cNvSpPr>
            <a:spLocks noGrp="1"/>
          </p:cNvSpPr>
          <p:nvPr>
            <p:ph idx="1"/>
          </p:nvPr>
        </p:nvSpPr>
        <p:spPr>
          <a:xfrm>
            <a:off x="1097280" y="1845734"/>
            <a:ext cx="10054189" cy="4023360"/>
          </a:xfrm>
        </p:spPr>
        <p:txBody>
          <a:bodyPr vert="horz" lIns="0" tIns="45720" rIns="0" bIns="45720" rtlCol="0" anchor="t">
            <a:normAutofit/>
          </a:bodyPr>
          <a:lstStyle/>
          <a:p>
            <a:pPr marL="0" indent="0">
              <a:buNone/>
            </a:pPr>
            <a:r>
              <a:rPr lang="en-US" dirty="0">
                <a:ea typeface="+mn-lt"/>
                <a:cs typeface="+mn-lt"/>
              </a:rPr>
              <a:t>This table highlights important data in the graphs, such as the maximum values for AI and human generation for the similarity metrics.</a:t>
            </a:r>
          </a:p>
        </p:txBody>
      </p:sp>
      <p:pic>
        <p:nvPicPr>
          <p:cNvPr id="6" name="Content Placeholder 8" descr="A close up of a number&#10;&#10;Description automatically generated">
            <a:extLst>
              <a:ext uri="{FF2B5EF4-FFF2-40B4-BE49-F238E27FC236}">
                <a16:creationId xmlns:a16="http://schemas.microsoft.com/office/drawing/2014/main" id="{48E12289-6CC1-8E22-280A-BB9BF42E8835}"/>
              </a:ext>
            </a:extLst>
          </p:cNvPr>
          <p:cNvPicPr>
            <a:picLocks noChangeAspect="1"/>
          </p:cNvPicPr>
          <p:nvPr/>
        </p:nvPicPr>
        <p:blipFill>
          <a:blip r:embed="rId2"/>
          <a:stretch>
            <a:fillRect/>
          </a:stretch>
        </p:blipFill>
        <p:spPr>
          <a:xfrm>
            <a:off x="2190702" y="3428618"/>
            <a:ext cx="7572375" cy="1762125"/>
          </a:xfrm>
          <a:prstGeom prst="rect">
            <a:avLst/>
          </a:prstGeom>
        </p:spPr>
      </p:pic>
    </p:spTree>
    <p:extLst>
      <p:ext uri="{BB962C8B-B14F-4D97-AF65-F5344CB8AC3E}">
        <p14:creationId xmlns:p14="http://schemas.microsoft.com/office/powerpoint/2010/main" val="24442714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3C2AB-D6B1-C615-79E6-27E29FD73C25}"/>
              </a:ext>
            </a:extLst>
          </p:cNvPr>
          <p:cNvSpPr>
            <a:spLocks noGrp="1"/>
          </p:cNvSpPr>
          <p:nvPr>
            <p:ph type="title"/>
          </p:nvPr>
        </p:nvSpPr>
        <p:spPr/>
        <p:txBody>
          <a:bodyPr>
            <a:normAutofit/>
          </a:bodyPr>
          <a:lstStyle/>
          <a:p>
            <a:r>
              <a:rPr lang="en-US" dirty="0">
                <a:ea typeface="+mj-lt"/>
                <a:cs typeface="+mj-lt"/>
              </a:rPr>
              <a:t>Model Comparison</a:t>
            </a:r>
          </a:p>
        </p:txBody>
      </p:sp>
      <p:sp>
        <p:nvSpPr>
          <p:cNvPr id="5" name="Content Placeholder 4">
            <a:extLst>
              <a:ext uri="{FF2B5EF4-FFF2-40B4-BE49-F238E27FC236}">
                <a16:creationId xmlns:a16="http://schemas.microsoft.com/office/drawing/2014/main" id="{065EC109-7CB9-8D7C-05BE-2A98C8381A20}"/>
              </a:ext>
            </a:extLst>
          </p:cNvPr>
          <p:cNvSpPr>
            <a:spLocks noGrp="1"/>
          </p:cNvSpPr>
          <p:nvPr>
            <p:ph idx="1"/>
          </p:nvPr>
        </p:nvSpPr>
        <p:spPr>
          <a:xfrm>
            <a:off x="5725724" y="1881012"/>
            <a:ext cx="5256412" cy="4023360"/>
          </a:xfrm>
        </p:spPr>
        <p:txBody>
          <a:bodyPr vert="horz" lIns="0" tIns="45720" rIns="0" bIns="45720" rtlCol="0" anchor="t">
            <a:normAutofit/>
          </a:bodyPr>
          <a:lstStyle/>
          <a:p>
            <a:pPr marL="0" indent="0">
              <a:buNone/>
            </a:pPr>
            <a:r>
              <a:rPr lang="en-US" dirty="0">
                <a:ea typeface="+mn-lt"/>
                <a:cs typeface="+mn-lt"/>
              </a:rPr>
              <a:t>This graph </a:t>
            </a:r>
            <a:r>
              <a:rPr lang="en-US" dirty="0" err="1">
                <a:ea typeface="+mn-lt"/>
                <a:cs typeface="+mn-lt"/>
              </a:rPr>
              <a:t>visualises</a:t>
            </a:r>
            <a:r>
              <a:rPr lang="en-US" dirty="0">
                <a:ea typeface="+mn-lt"/>
                <a:cs typeface="+mn-lt"/>
              </a:rPr>
              <a:t> the effect of changing the prompt and the text </a:t>
            </a:r>
            <a:r>
              <a:rPr lang="en-US" dirty="0" err="1">
                <a:ea typeface="+mn-lt"/>
                <a:cs typeface="+mn-lt"/>
              </a:rPr>
              <a:t>analysed</a:t>
            </a:r>
            <a:r>
              <a:rPr lang="en-US" dirty="0">
                <a:ea typeface="+mn-lt"/>
                <a:cs typeface="+mn-lt"/>
              </a:rPr>
              <a:t>.</a:t>
            </a:r>
          </a:p>
        </p:txBody>
      </p:sp>
      <p:pic>
        <p:nvPicPr>
          <p:cNvPr id="3" name="Picture 2" descr="A graph of a number of blue and red bars&#10;&#10;Description automatically generated">
            <a:extLst>
              <a:ext uri="{FF2B5EF4-FFF2-40B4-BE49-F238E27FC236}">
                <a16:creationId xmlns:a16="http://schemas.microsoft.com/office/drawing/2014/main" id="{12904496-4218-15D3-7222-4FA4F3000842}"/>
              </a:ext>
            </a:extLst>
          </p:cNvPr>
          <p:cNvPicPr>
            <a:picLocks noChangeAspect="1"/>
          </p:cNvPicPr>
          <p:nvPr/>
        </p:nvPicPr>
        <p:blipFill>
          <a:blip r:embed="rId2"/>
          <a:stretch>
            <a:fillRect/>
          </a:stretch>
        </p:blipFill>
        <p:spPr>
          <a:xfrm>
            <a:off x="6096000" y="2769835"/>
            <a:ext cx="5715000" cy="3533775"/>
          </a:xfrm>
          <a:prstGeom prst="rect">
            <a:avLst/>
          </a:prstGeom>
        </p:spPr>
      </p:pic>
      <p:pic>
        <p:nvPicPr>
          <p:cNvPr id="11" name="Content Placeholder 4" descr="A close up of a number&#10;&#10;Description automatically generated">
            <a:extLst>
              <a:ext uri="{FF2B5EF4-FFF2-40B4-BE49-F238E27FC236}">
                <a16:creationId xmlns:a16="http://schemas.microsoft.com/office/drawing/2014/main" id="{DDE60C7E-EAA5-9878-8AEF-3D2159019B5D}"/>
              </a:ext>
            </a:extLst>
          </p:cNvPr>
          <p:cNvPicPr>
            <a:picLocks noChangeAspect="1"/>
          </p:cNvPicPr>
          <p:nvPr/>
        </p:nvPicPr>
        <p:blipFill>
          <a:blip r:embed="rId3"/>
          <a:stretch>
            <a:fillRect/>
          </a:stretch>
        </p:blipFill>
        <p:spPr>
          <a:xfrm>
            <a:off x="275767" y="4657215"/>
            <a:ext cx="5327652" cy="1249894"/>
          </a:xfrm>
          <a:prstGeom prst="rect">
            <a:avLst/>
          </a:prstGeom>
        </p:spPr>
      </p:pic>
      <p:pic>
        <p:nvPicPr>
          <p:cNvPr id="13" name="Content Placeholder 6" descr="A black text on a white background&#10;&#10;Description automatically generated">
            <a:extLst>
              <a:ext uri="{FF2B5EF4-FFF2-40B4-BE49-F238E27FC236}">
                <a16:creationId xmlns:a16="http://schemas.microsoft.com/office/drawing/2014/main" id="{4521621D-6769-4EA5-6D2C-04413A740965}"/>
              </a:ext>
            </a:extLst>
          </p:cNvPr>
          <p:cNvPicPr>
            <a:picLocks noChangeAspect="1"/>
          </p:cNvPicPr>
          <p:nvPr/>
        </p:nvPicPr>
        <p:blipFill>
          <a:blip r:embed="rId4"/>
          <a:stretch>
            <a:fillRect/>
          </a:stretch>
        </p:blipFill>
        <p:spPr>
          <a:xfrm>
            <a:off x="31674" y="2527255"/>
            <a:ext cx="5568951" cy="1359959"/>
          </a:xfrm>
          <a:prstGeom prst="rect">
            <a:avLst/>
          </a:prstGeom>
        </p:spPr>
      </p:pic>
      <p:sp>
        <p:nvSpPr>
          <p:cNvPr id="15" name="TextBox 14">
            <a:extLst>
              <a:ext uri="{FF2B5EF4-FFF2-40B4-BE49-F238E27FC236}">
                <a16:creationId xmlns:a16="http://schemas.microsoft.com/office/drawing/2014/main" id="{DA5C01C1-350B-95BB-4BDC-BA6A1FD00EC7}"/>
              </a:ext>
            </a:extLst>
          </p:cNvPr>
          <p:cNvSpPr txBox="1"/>
          <p:nvPr/>
        </p:nvSpPr>
        <p:spPr>
          <a:xfrm>
            <a:off x="1509888" y="2208389"/>
            <a:ext cx="214488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ea typeface="Calibri"/>
                <a:cs typeface="Calibri"/>
              </a:rPr>
              <a:t>NON - RAG</a:t>
            </a:r>
          </a:p>
        </p:txBody>
      </p:sp>
      <p:sp>
        <p:nvSpPr>
          <p:cNvPr id="17" name="TextBox 16">
            <a:extLst>
              <a:ext uri="{FF2B5EF4-FFF2-40B4-BE49-F238E27FC236}">
                <a16:creationId xmlns:a16="http://schemas.microsoft.com/office/drawing/2014/main" id="{1A3687AF-17FA-F360-5745-675C8B5DA4B4}"/>
              </a:ext>
            </a:extLst>
          </p:cNvPr>
          <p:cNvSpPr txBox="1"/>
          <p:nvPr/>
        </p:nvSpPr>
        <p:spPr>
          <a:xfrm>
            <a:off x="1210733" y="4286955"/>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t>RAG</a:t>
            </a:r>
            <a:r>
              <a:rPr lang="en-US" dirty="0">
                <a:ea typeface="Calibri"/>
                <a:cs typeface="Calibri"/>
              </a:rPr>
              <a:t>​</a:t>
            </a:r>
          </a:p>
        </p:txBody>
      </p:sp>
    </p:spTree>
    <p:extLst>
      <p:ext uri="{BB962C8B-B14F-4D97-AF65-F5344CB8AC3E}">
        <p14:creationId xmlns:p14="http://schemas.microsoft.com/office/powerpoint/2010/main" val="30587725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3C2AB-D6B1-C615-79E6-27E29FD73C25}"/>
              </a:ext>
            </a:extLst>
          </p:cNvPr>
          <p:cNvSpPr>
            <a:spLocks noGrp="1"/>
          </p:cNvSpPr>
          <p:nvPr>
            <p:ph type="title"/>
          </p:nvPr>
        </p:nvSpPr>
        <p:spPr/>
        <p:txBody>
          <a:bodyPr>
            <a:normAutofit/>
          </a:bodyPr>
          <a:lstStyle/>
          <a:p>
            <a:r>
              <a:rPr lang="en-US" dirty="0">
                <a:ea typeface="+mj-lt"/>
                <a:cs typeface="+mj-lt"/>
              </a:rPr>
              <a:t>Model Comparison</a:t>
            </a:r>
          </a:p>
        </p:txBody>
      </p:sp>
      <p:sp>
        <p:nvSpPr>
          <p:cNvPr id="5" name="Content Placeholder 4">
            <a:extLst>
              <a:ext uri="{FF2B5EF4-FFF2-40B4-BE49-F238E27FC236}">
                <a16:creationId xmlns:a16="http://schemas.microsoft.com/office/drawing/2014/main" id="{065EC109-7CB9-8D7C-05BE-2A98C8381A20}"/>
              </a:ext>
            </a:extLst>
          </p:cNvPr>
          <p:cNvSpPr>
            <a:spLocks noGrp="1"/>
          </p:cNvSpPr>
          <p:nvPr>
            <p:ph idx="1"/>
          </p:nvPr>
        </p:nvSpPr>
        <p:spPr>
          <a:xfrm>
            <a:off x="1097280" y="1845734"/>
            <a:ext cx="5256412" cy="4023360"/>
          </a:xfrm>
        </p:spPr>
        <p:txBody>
          <a:bodyPr vert="horz" lIns="0" tIns="45720" rIns="0" bIns="45720" rtlCol="0" anchor="t">
            <a:normAutofit/>
          </a:bodyPr>
          <a:lstStyle/>
          <a:p>
            <a:pPr marL="0" indent="0">
              <a:buNone/>
            </a:pPr>
            <a:r>
              <a:rPr lang="en-US" dirty="0">
                <a:ea typeface="+mn-lt"/>
                <a:cs typeface="+mn-lt"/>
              </a:rPr>
              <a:t>This graph represents the data in a visual format to find the most effective method and parameters.</a:t>
            </a:r>
          </a:p>
        </p:txBody>
      </p:sp>
      <p:pic>
        <p:nvPicPr>
          <p:cNvPr id="6" name="Content Placeholder 8" descr="A close up of a number&#10;&#10;Description automatically generated">
            <a:extLst>
              <a:ext uri="{FF2B5EF4-FFF2-40B4-BE49-F238E27FC236}">
                <a16:creationId xmlns:a16="http://schemas.microsoft.com/office/drawing/2014/main" id="{48E12289-6CC1-8E22-280A-BB9BF42E8835}"/>
              </a:ext>
            </a:extLst>
          </p:cNvPr>
          <p:cNvPicPr>
            <a:picLocks noChangeAspect="1"/>
          </p:cNvPicPr>
          <p:nvPr/>
        </p:nvPicPr>
        <p:blipFill>
          <a:blip r:embed="rId2"/>
          <a:stretch>
            <a:fillRect/>
          </a:stretch>
        </p:blipFill>
        <p:spPr>
          <a:xfrm>
            <a:off x="6932034" y="4522230"/>
            <a:ext cx="4863042" cy="1183570"/>
          </a:xfrm>
          <a:prstGeom prst="rect">
            <a:avLst/>
          </a:prstGeom>
        </p:spPr>
      </p:pic>
      <p:pic>
        <p:nvPicPr>
          <p:cNvPr id="4" name="Picture 3" descr="A close up of a number&#10;&#10;Description automatically generated">
            <a:extLst>
              <a:ext uri="{FF2B5EF4-FFF2-40B4-BE49-F238E27FC236}">
                <a16:creationId xmlns:a16="http://schemas.microsoft.com/office/drawing/2014/main" id="{7780B477-98F8-BD68-8B1A-5C6EE6A0A2D4}"/>
              </a:ext>
            </a:extLst>
          </p:cNvPr>
          <p:cNvPicPr>
            <a:picLocks noChangeAspect="1"/>
          </p:cNvPicPr>
          <p:nvPr/>
        </p:nvPicPr>
        <p:blipFill>
          <a:blip r:embed="rId3"/>
          <a:stretch>
            <a:fillRect/>
          </a:stretch>
        </p:blipFill>
        <p:spPr>
          <a:xfrm>
            <a:off x="6929397" y="2336572"/>
            <a:ext cx="4864101" cy="1184629"/>
          </a:xfrm>
          <a:prstGeom prst="rect">
            <a:avLst/>
          </a:prstGeom>
        </p:spPr>
      </p:pic>
      <p:pic>
        <p:nvPicPr>
          <p:cNvPr id="7" name="Picture 6" descr="A graph of different colored bars&#10;&#10;Description automatically generated">
            <a:extLst>
              <a:ext uri="{FF2B5EF4-FFF2-40B4-BE49-F238E27FC236}">
                <a16:creationId xmlns:a16="http://schemas.microsoft.com/office/drawing/2014/main" id="{CEC64856-7358-7809-8106-BAB98CBC3EE0}"/>
              </a:ext>
            </a:extLst>
          </p:cNvPr>
          <p:cNvPicPr>
            <a:picLocks noChangeAspect="1"/>
          </p:cNvPicPr>
          <p:nvPr/>
        </p:nvPicPr>
        <p:blipFill>
          <a:blip r:embed="rId4"/>
          <a:stretch>
            <a:fillRect/>
          </a:stretch>
        </p:blipFill>
        <p:spPr>
          <a:xfrm>
            <a:off x="825500" y="2755723"/>
            <a:ext cx="5715000" cy="3533775"/>
          </a:xfrm>
          <a:prstGeom prst="rect">
            <a:avLst/>
          </a:prstGeom>
        </p:spPr>
      </p:pic>
      <p:sp>
        <p:nvSpPr>
          <p:cNvPr id="8" name="TextBox 7">
            <a:extLst>
              <a:ext uri="{FF2B5EF4-FFF2-40B4-BE49-F238E27FC236}">
                <a16:creationId xmlns:a16="http://schemas.microsoft.com/office/drawing/2014/main" id="{83D631F6-BDBF-44D8-BA10-DF33D0532EB3}"/>
              </a:ext>
            </a:extLst>
          </p:cNvPr>
          <p:cNvSpPr txBox="1"/>
          <p:nvPr/>
        </p:nvSpPr>
        <p:spPr>
          <a:xfrm>
            <a:off x="8290277" y="1968500"/>
            <a:ext cx="214488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ea typeface="Calibri"/>
                <a:cs typeface="Calibri"/>
              </a:rPr>
              <a:t>NON - RAG</a:t>
            </a:r>
          </a:p>
        </p:txBody>
      </p:sp>
      <p:sp>
        <p:nvSpPr>
          <p:cNvPr id="9" name="TextBox 8">
            <a:extLst>
              <a:ext uri="{FF2B5EF4-FFF2-40B4-BE49-F238E27FC236}">
                <a16:creationId xmlns:a16="http://schemas.microsoft.com/office/drawing/2014/main" id="{685E2849-99EB-94B1-53A2-ABA416C2A015}"/>
              </a:ext>
            </a:extLst>
          </p:cNvPr>
          <p:cNvSpPr txBox="1"/>
          <p:nvPr/>
        </p:nvSpPr>
        <p:spPr>
          <a:xfrm>
            <a:off x="7998177" y="4089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t>RAG</a:t>
            </a:r>
            <a:r>
              <a:rPr lang="en-US" dirty="0">
                <a:ea typeface="Calibri"/>
                <a:cs typeface="Calibri"/>
              </a:rPr>
              <a:t>​</a:t>
            </a:r>
          </a:p>
        </p:txBody>
      </p:sp>
    </p:spTree>
    <p:extLst>
      <p:ext uri="{BB962C8B-B14F-4D97-AF65-F5344CB8AC3E}">
        <p14:creationId xmlns:p14="http://schemas.microsoft.com/office/powerpoint/2010/main" val="1704387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0A1D0-4D9A-5D2A-70A5-A313732F7237}"/>
              </a:ext>
            </a:extLst>
          </p:cNvPr>
          <p:cNvSpPr>
            <a:spLocks noGrp="1"/>
          </p:cNvSpPr>
          <p:nvPr>
            <p:ph type="title"/>
          </p:nvPr>
        </p:nvSpPr>
        <p:spPr/>
        <p:txBody>
          <a:bodyPr/>
          <a:lstStyle/>
          <a:p>
            <a:r>
              <a:rPr lang="en-US">
                <a:ea typeface="Calibri Light"/>
                <a:cs typeface="Calibri Light"/>
              </a:rPr>
              <a:t>Evaluation</a:t>
            </a:r>
            <a:endParaRPr lang="en-US" dirty="0">
              <a:ea typeface="Calibri Light"/>
              <a:cs typeface="Calibri Light"/>
            </a:endParaRPr>
          </a:p>
        </p:txBody>
      </p:sp>
      <p:sp>
        <p:nvSpPr>
          <p:cNvPr id="3" name="Content Placeholder 2">
            <a:extLst>
              <a:ext uri="{FF2B5EF4-FFF2-40B4-BE49-F238E27FC236}">
                <a16:creationId xmlns:a16="http://schemas.microsoft.com/office/drawing/2014/main" id="{39FC6B56-FC2D-F7DB-9BA1-55CE94F1B21A}"/>
              </a:ext>
            </a:extLst>
          </p:cNvPr>
          <p:cNvSpPr>
            <a:spLocks noGrp="1"/>
          </p:cNvSpPr>
          <p:nvPr>
            <p:ph idx="1"/>
          </p:nvPr>
        </p:nvSpPr>
        <p:spPr/>
        <p:txBody>
          <a:bodyPr vert="horz" lIns="0" tIns="45720" rIns="0" bIns="45720" rtlCol="0" anchor="t">
            <a:normAutofit/>
          </a:bodyPr>
          <a:lstStyle/>
          <a:p>
            <a:pPr marL="0" indent="0">
              <a:buNone/>
            </a:pPr>
            <a:r>
              <a:rPr lang="en-US" dirty="0">
                <a:ea typeface="+mn-lt"/>
                <a:cs typeface="+mn-lt"/>
              </a:rPr>
              <a:t>The non-RAG system’s framework effectively determines the difference between a human text and an AI text. Even when the prompt has an opinionated solution.</a:t>
            </a:r>
          </a:p>
          <a:p>
            <a:pPr marL="0" indent="0">
              <a:buNone/>
            </a:pPr>
            <a:endParaRPr lang="en-US" dirty="0">
              <a:ea typeface="+mn-lt"/>
              <a:cs typeface="+mn-lt"/>
            </a:endParaRPr>
          </a:p>
          <a:p>
            <a:pPr>
              <a:buNone/>
            </a:pPr>
            <a:r>
              <a:rPr lang="en-US" dirty="0">
                <a:ea typeface="+mn-lt"/>
                <a:cs typeface="+mn-lt"/>
              </a:rPr>
              <a:t>The framework effectively </a:t>
            </a:r>
            <a:r>
              <a:rPr lang="en-US" dirty="0" err="1">
                <a:ea typeface="+mn-lt"/>
                <a:cs typeface="+mn-lt"/>
              </a:rPr>
              <a:t>utilises</a:t>
            </a:r>
            <a:r>
              <a:rPr lang="en-US" dirty="0">
                <a:ea typeface="+mn-lt"/>
                <a:cs typeface="+mn-lt"/>
              </a:rPr>
              <a:t> both similarity metrics and has the largest confidence between human and AI input. </a:t>
            </a:r>
            <a:endParaRPr lang="en-US"/>
          </a:p>
          <a:p>
            <a:pPr>
              <a:buNone/>
            </a:pPr>
            <a:endParaRPr lang="en-US"/>
          </a:p>
          <a:p>
            <a:pPr marL="0" indent="0">
              <a:buNone/>
            </a:pPr>
            <a:r>
              <a:rPr lang="en-US" dirty="0">
                <a:ea typeface="+mn-lt"/>
                <a:cs typeface="+mn-lt"/>
              </a:rPr>
              <a:t>By setting a threshold at around 0.5, the system could be implemented to flag and detect AI content for review.</a:t>
            </a:r>
          </a:p>
        </p:txBody>
      </p:sp>
    </p:spTree>
    <p:extLst>
      <p:ext uri="{BB962C8B-B14F-4D97-AF65-F5344CB8AC3E}">
        <p14:creationId xmlns:p14="http://schemas.microsoft.com/office/powerpoint/2010/main" val="26872843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A6C74-3FDB-09C3-42CD-B33B378BAA1F}"/>
              </a:ext>
            </a:extLst>
          </p:cNvPr>
          <p:cNvSpPr>
            <a:spLocks noGrp="1"/>
          </p:cNvSpPr>
          <p:nvPr>
            <p:ph type="title"/>
          </p:nvPr>
        </p:nvSpPr>
        <p:spPr/>
        <p:txBody>
          <a:bodyPr>
            <a:normAutofit/>
          </a:bodyPr>
          <a:lstStyle/>
          <a:p>
            <a:r>
              <a:rPr lang="en-US" dirty="0">
                <a:ea typeface="+mj-lt"/>
                <a:cs typeface="+mj-lt"/>
              </a:rPr>
              <a:t>Conclusion</a:t>
            </a:r>
          </a:p>
        </p:txBody>
      </p:sp>
      <p:sp>
        <p:nvSpPr>
          <p:cNvPr id="3" name="Content Placeholder 2">
            <a:extLst>
              <a:ext uri="{FF2B5EF4-FFF2-40B4-BE49-F238E27FC236}">
                <a16:creationId xmlns:a16="http://schemas.microsoft.com/office/drawing/2014/main" id="{30692AE8-543A-2603-DD25-CA6F21C956B6}"/>
              </a:ext>
            </a:extLst>
          </p:cNvPr>
          <p:cNvSpPr>
            <a:spLocks noGrp="1"/>
          </p:cNvSpPr>
          <p:nvPr>
            <p:ph idx="1"/>
          </p:nvPr>
        </p:nvSpPr>
        <p:spPr/>
        <p:txBody>
          <a:bodyPr vert="horz" lIns="0" tIns="45720" rIns="0" bIns="45720" rtlCol="0" anchor="t">
            <a:normAutofit fontScale="85000" lnSpcReduction="20000"/>
          </a:bodyPr>
          <a:lstStyle/>
          <a:p>
            <a:pPr marL="0" indent="0">
              <a:buNone/>
            </a:pPr>
            <a:r>
              <a:rPr lang="en-US" dirty="0">
                <a:ea typeface="+mn-lt"/>
                <a:cs typeface="+mn-lt"/>
              </a:rPr>
              <a:t>A RAG-based approach effectively determines the likelihood of a text being AI-generated. This system is effective over traditional methods especially in cases that have opinionated responses.</a:t>
            </a:r>
            <a:endParaRPr lang="en-US" dirty="0">
              <a:ea typeface="Calibri"/>
              <a:cs typeface="Calibri"/>
            </a:endParaRPr>
          </a:p>
          <a:p>
            <a:pPr marL="0" indent="0">
              <a:buNone/>
            </a:pPr>
            <a:endParaRPr lang="en-US" dirty="0">
              <a:ea typeface="Calibri"/>
              <a:cs typeface="Calibri"/>
            </a:endParaRPr>
          </a:p>
          <a:p>
            <a:pPr marL="0" indent="0">
              <a:buNone/>
            </a:pPr>
            <a:r>
              <a:rPr lang="en-US">
                <a:ea typeface="+mn-lt"/>
                <a:cs typeface="+mn-lt"/>
              </a:rPr>
              <a:t>The systems implemented should not be the only system used to confirm whether a text is AI-generated, as there is a degree of randomness.</a:t>
            </a:r>
          </a:p>
          <a:p>
            <a:pPr marL="0" indent="0">
              <a:buNone/>
            </a:pPr>
            <a:endParaRPr lang="en-US" dirty="0">
              <a:ea typeface="Calibri"/>
              <a:cs typeface="Calibri"/>
            </a:endParaRPr>
          </a:p>
          <a:p>
            <a:pPr marL="0" indent="0">
              <a:buNone/>
            </a:pPr>
            <a:r>
              <a:rPr lang="en-US" dirty="0">
                <a:ea typeface="Calibri"/>
                <a:cs typeface="Calibri"/>
              </a:rPr>
              <a:t>The Objectives:</a:t>
            </a:r>
            <a:endParaRPr lang="en-US" dirty="0"/>
          </a:p>
          <a:p>
            <a:pPr>
              <a:buFont typeface="Calibri"/>
              <a:buChar char=" "/>
            </a:pPr>
            <a:r>
              <a:rPr lang="en-US" dirty="0">
                <a:ea typeface="Calibri" panose="020F0502020204030204"/>
                <a:cs typeface="Calibri" panose="020F0502020204030204"/>
              </a:rPr>
              <a:t>1. Develop a method to identify AI-generated text using a similarity metric</a:t>
            </a:r>
            <a:endParaRPr lang="en-US" dirty="0">
              <a:solidFill>
                <a:srgbClr val="000000"/>
              </a:solidFill>
              <a:ea typeface="Calibri" panose="020F0502020204030204"/>
              <a:cs typeface="Calibri" panose="020F0502020204030204"/>
            </a:endParaRPr>
          </a:p>
          <a:p>
            <a:pPr>
              <a:buFont typeface="Calibri"/>
              <a:buChar char=" "/>
            </a:pPr>
            <a:r>
              <a:rPr lang="en-US" dirty="0">
                <a:ea typeface="Calibri" panose="020F0502020204030204"/>
                <a:cs typeface="Calibri" panose="020F0502020204030204"/>
              </a:rPr>
              <a:t>2. Use Retrieval-Augmented Generation based responses</a:t>
            </a:r>
            <a:endParaRPr lang="en-US" dirty="0">
              <a:solidFill>
                <a:srgbClr val="000000"/>
              </a:solidFill>
              <a:ea typeface="Calibri" panose="020F0502020204030204"/>
              <a:cs typeface="Calibri" panose="020F0502020204030204"/>
            </a:endParaRPr>
          </a:p>
          <a:p>
            <a:pPr>
              <a:buFont typeface="Calibri"/>
              <a:buChar char=" "/>
            </a:pPr>
            <a:r>
              <a:rPr lang="en-US" dirty="0">
                <a:ea typeface="Calibri" panose="020F0502020204030204"/>
                <a:cs typeface="Calibri" panose="020F0502020204030204"/>
              </a:rPr>
              <a:t>3. Implement these methods</a:t>
            </a:r>
            <a:endParaRPr lang="en-US" dirty="0">
              <a:solidFill>
                <a:srgbClr val="000000"/>
              </a:solidFill>
              <a:ea typeface="Calibri" panose="020F0502020204030204"/>
              <a:cs typeface="Calibri" panose="020F0502020204030204"/>
            </a:endParaRPr>
          </a:p>
          <a:p>
            <a:pPr>
              <a:buFont typeface="Calibri"/>
              <a:buChar char=" "/>
            </a:pPr>
            <a:r>
              <a:rPr lang="en-US" dirty="0">
                <a:ea typeface="Calibri" panose="020F0502020204030204"/>
                <a:cs typeface="Calibri" panose="020F0502020204030204"/>
              </a:rPr>
              <a:t>4. Evaluate the success of the methods</a:t>
            </a:r>
            <a:endParaRPr lang="en-US" dirty="0">
              <a:solidFill>
                <a:srgbClr val="000000"/>
              </a:solidFill>
              <a:ea typeface="Calibri" panose="020F0502020204030204"/>
              <a:cs typeface="Calibri" panose="020F0502020204030204"/>
            </a:endParaRPr>
          </a:p>
          <a:p>
            <a:pPr>
              <a:buFont typeface="Calibri"/>
              <a:buChar char=" "/>
            </a:pPr>
            <a:r>
              <a:rPr lang="en-US" dirty="0">
                <a:ea typeface="Calibri" panose="020F0502020204030204"/>
                <a:cs typeface="Calibri" panose="020F0502020204030204"/>
              </a:rPr>
              <a:t>5. Produce a report on the findings of the methods</a:t>
            </a:r>
            <a:endParaRPr lang="en-US" dirty="0"/>
          </a:p>
          <a:p>
            <a:pPr marL="0" indent="0">
              <a:buNone/>
            </a:pPr>
            <a:endParaRPr lang="en-US" dirty="0">
              <a:ea typeface="Calibri" panose="020F0502020204030204"/>
              <a:cs typeface="Calibri" panose="020F0502020204030204"/>
            </a:endParaRPr>
          </a:p>
        </p:txBody>
      </p:sp>
    </p:spTree>
    <p:extLst>
      <p:ext uri="{BB962C8B-B14F-4D97-AF65-F5344CB8AC3E}">
        <p14:creationId xmlns:p14="http://schemas.microsoft.com/office/powerpoint/2010/main" val="32421990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FD889-4E5A-B7D6-066E-95AD2F6340E4}"/>
              </a:ext>
            </a:extLst>
          </p:cNvPr>
          <p:cNvSpPr>
            <a:spLocks noGrp="1"/>
          </p:cNvSpPr>
          <p:nvPr>
            <p:ph type="title"/>
          </p:nvPr>
        </p:nvSpPr>
        <p:spPr/>
        <p:txBody>
          <a:bodyPr/>
          <a:lstStyle/>
          <a:p>
            <a:r>
              <a:rPr lang="en-US" dirty="0">
                <a:ea typeface="Calibri Light"/>
                <a:cs typeface="Calibri Light"/>
              </a:rPr>
              <a:t>Future Work</a:t>
            </a:r>
            <a:endParaRPr lang="en-US" dirty="0"/>
          </a:p>
        </p:txBody>
      </p:sp>
      <p:sp>
        <p:nvSpPr>
          <p:cNvPr id="3" name="Content Placeholder 2">
            <a:extLst>
              <a:ext uri="{FF2B5EF4-FFF2-40B4-BE49-F238E27FC236}">
                <a16:creationId xmlns:a16="http://schemas.microsoft.com/office/drawing/2014/main" id="{86C2BA11-AF8A-0537-BB1E-9D03007FBC7D}"/>
              </a:ext>
            </a:extLst>
          </p:cNvPr>
          <p:cNvSpPr>
            <a:spLocks noGrp="1"/>
          </p:cNvSpPr>
          <p:nvPr>
            <p:ph idx="1"/>
          </p:nvPr>
        </p:nvSpPr>
        <p:spPr/>
        <p:txBody>
          <a:bodyPr vert="horz" lIns="0" tIns="45720" rIns="0" bIns="45720" rtlCol="0" anchor="t">
            <a:normAutofit/>
          </a:bodyPr>
          <a:lstStyle/>
          <a:p>
            <a:pPr marL="0" indent="0">
              <a:buNone/>
            </a:pPr>
            <a:r>
              <a:rPr lang="en-US" dirty="0">
                <a:ea typeface="Calibri"/>
                <a:cs typeface="Calibri"/>
              </a:rPr>
              <a:t>Testing with Other Models(</a:t>
            </a:r>
            <a:r>
              <a:rPr lang="en-US" dirty="0" err="1">
                <a:ea typeface="Calibri"/>
                <a:cs typeface="Calibri"/>
              </a:rPr>
              <a:t>LLaMA</a:t>
            </a:r>
            <a:r>
              <a:rPr lang="en-US" dirty="0">
                <a:ea typeface="Calibri"/>
                <a:cs typeface="Calibri"/>
              </a:rPr>
              <a:t>, Gemini).</a:t>
            </a:r>
            <a:endParaRPr lang="en-US" dirty="0"/>
          </a:p>
          <a:p>
            <a:pPr marL="0" indent="0">
              <a:buNone/>
            </a:pPr>
            <a:endParaRPr lang="en-US" dirty="0">
              <a:ea typeface="Calibri"/>
              <a:cs typeface="Calibri"/>
            </a:endParaRPr>
          </a:p>
          <a:p>
            <a:pPr marL="0" indent="0">
              <a:buNone/>
            </a:pPr>
            <a:r>
              <a:rPr lang="en-US" dirty="0">
                <a:ea typeface="Calibri"/>
                <a:cs typeface="Calibri"/>
              </a:rPr>
              <a:t>A trigram-based system to look at the patterns and positions of words.</a:t>
            </a:r>
          </a:p>
          <a:p>
            <a:pPr marL="0" indent="0">
              <a:buNone/>
            </a:pPr>
            <a:endParaRPr lang="en-US" dirty="0">
              <a:ea typeface="Calibri"/>
              <a:cs typeface="Calibri"/>
            </a:endParaRPr>
          </a:p>
          <a:p>
            <a:pPr marL="0" indent="0">
              <a:buNone/>
            </a:pPr>
            <a:r>
              <a:rPr lang="en-US" dirty="0">
                <a:ea typeface="Calibri"/>
                <a:cs typeface="Calibri"/>
              </a:rPr>
              <a:t>A database of common overused AI terms.</a:t>
            </a:r>
          </a:p>
          <a:p>
            <a:pPr marL="0" indent="0">
              <a:buNone/>
            </a:pPr>
            <a:endParaRPr lang="en-US" dirty="0">
              <a:ea typeface="Calibri"/>
              <a:cs typeface="Calibri"/>
            </a:endParaRPr>
          </a:p>
          <a:p>
            <a:pPr marL="0" indent="0">
              <a:buNone/>
            </a:pPr>
            <a:r>
              <a:rPr lang="en-US" dirty="0">
                <a:ea typeface="Calibri"/>
                <a:cs typeface="Calibri"/>
              </a:rPr>
              <a:t>Fact and fake news detection.</a:t>
            </a:r>
          </a:p>
          <a:p>
            <a:pPr marL="0" indent="0">
              <a:buNone/>
            </a:pPr>
            <a:endParaRPr lang="en-US" dirty="0">
              <a:ea typeface="Calibri"/>
              <a:cs typeface="Calibri"/>
            </a:endParaRPr>
          </a:p>
          <a:p>
            <a:pPr marL="0" indent="0">
              <a:buNone/>
            </a:pPr>
            <a:endParaRPr lang="en-US" dirty="0">
              <a:ea typeface="Calibri"/>
              <a:cs typeface="Calibri"/>
            </a:endParaRPr>
          </a:p>
          <a:p>
            <a:pPr marL="0" indent="0">
              <a:buNone/>
            </a:pPr>
            <a:endParaRPr lang="en-US" dirty="0">
              <a:ea typeface="Calibri"/>
              <a:cs typeface="Calibri"/>
            </a:endParaRPr>
          </a:p>
        </p:txBody>
      </p:sp>
    </p:spTree>
    <p:extLst>
      <p:ext uri="{BB962C8B-B14F-4D97-AF65-F5344CB8AC3E}">
        <p14:creationId xmlns:p14="http://schemas.microsoft.com/office/powerpoint/2010/main" val="34600288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4286E-EB53-41B1-8380-A9E3A41787CE}"/>
              </a:ext>
            </a:extLst>
          </p:cNvPr>
          <p:cNvSpPr>
            <a:spLocks noGrp="1"/>
          </p:cNvSpPr>
          <p:nvPr>
            <p:ph type="title"/>
          </p:nvPr>
        </p:nvSpPr>
        <p:spPr/>
        <p:txBody>
          <a:bodyPr/>
          <a:lstStyle/>
          <a:p>
            <a:r>
              <a:rPr lang="en-US">
                <a:ea typeface="Calibri Light"/>
                <a:cs typeface="Calibri Light"/>
              </a:rPr>
              <a:t>Questions</a:t>
            </a:r>
            <a:endParaRPr lang="en-US"/>
          </a:p>
        </p:txBody>
      </p:sp>
      <p:sp>
        <p:nvSpPr>
          <p:cNvPr id="3" name="Content Placeholder 2">
            <a:extLst>
              <a:ext uri="{FF2B5EF4-FFF2-40B4-BE49-F238E27FC236}">
                <a16:creationId xmlns:a16="http://schemas.microsoft.com/office/drawing/2014/main" id="{BAF894AF-A701-3B98-E436-9C9C571DB70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0235691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916EB-B456-F672-ECC9-4A6C07EF8DD9}"/>
              </a:ext>
            </a:extLst>
          </p:cNvPr>
          <p:cNvSpPr>
            <a:spLocks noGrp="1"/>
          </p:cNvSpPr>
          <p:nvPr>
            <p:ph type="title"/>
          </p:nvPr>
        </p:nvSpPr>
        <p:spPr/>
        <p:txBody>
          <a:bodyPr/>
          <a:lstStyle/>
          <a:p>
            <a:r>
              <a:rPr lang="en-US">
                <a:cs typeface="Calibri Light"/>
              </a:rPr>
              <a:t>References</a:t>
            </a:r>
            <a:endParaRPr lang="en-US"/>
          </a:p>
        </p:txBody>
      </p:sp>
      <p:sp>
        <p:nvSpPr>
          <p:cNvPr id="3" name="Content Placeholder 2">
            <a:extLst>
              <a:ext uri="{FF2B5EF4-FFF2-40B4-BE49-F238E27FC236}">
                <a16:creationId xmlns:a16="http://schemas.microsoft.com/office/drawing/2014/main" id="{2186C4AD-1281-60D5-D651-04A03E3EBBE7}"/>
              </a:ext>
            </a:extLst>
          </p:cNvPr>
          <p:cNvSpPr>
            <a:spLocks noGrp="1"/>
          </p:cNvSpPr>
          <p:nvPr>
            <p:ph idx="1"/>
          </p:nvPr>
        </p:nvSpPr>
        <p:spPr/>
        <p:txBody>
          <a:bodyPr vert="horz" lIns="0" tIns="45720" rIns="0" bIns="45720" rtlCol="0" anchor="t">
            <a:normAutofit/>
          </a:bodyPr>
          <a:lstStyle/>
          <a:p>
            <a:r>
              <a:rPr lang="en-US" dirty="0" err="1">
                <a:ea typeface="+mn-lt"/>
                <a:cs typeface="+mn-lt"/>
              </a:rPr>
              <a:t>Intelliarts</a:t>
            </a:r>
            <a:r>
              <a:rPr lang="en-US" dirty="0">
                <a:ea typeface="+mn-lt"/>
                <a:cs typeface="+mn-lt"/>
              </a:rPr>
              <a:t> Top 11 Large Language Models of 2024 (2024). Accessed: 2024-05-28.</a:t>
            </a:r>
            <a:endParaRPr lang="en-US" dirty="0">
              <a:solidFill>
                <a:srgbClr val="000000"/>
              </a:solidFill>
              <a:ea typeface="+mn-lt"/>
              <a:cs typeface="+mn-lt"/>
            </a:endParaRPr>
          </a:p>
          <a:p>
            <a:r>
              <a:rPr lang="en-US" dirty="0">
                <a:ea typeface="+mn-lt"/>
                <a:cs typeface="+mn-lt"/>
              </a:rPr>
              <a:t>Natural Language Toolkit NTKL (2024). test. Accessed: 2024-05-28.</a:t>
            </a:r>
            <a:endParaRPr lang="en-US" dirty="0">
              <a:solidFill>
                <a:srgbClr val="000000"/>
              </a:solidFill>
              <a:ea typeface="+mn-lt"/>
              <a:cs typeface="+mn-lt"/>
            </a:endParaRPr>
          </a:p>
          <a:p>
            <a:r>
              <a:rPr lang="en-US" dirty="0" err="1">
                <a:ea typeface="+mn-lt"/>
                <a:cs typeface="+mn-lt"/>
              </a:rPr>
              <a:t>LangChain</a:t>
            </a:r>
            <a:r>
              <a:rPr lang="en-US" dirty="0">
                <a:ea typeface="+mn-lt"/>
                <a:cs typeface="+mn-lt"/>
              </a:rPr>
              <a:t> Python Framework (2024). Accessed: 2024-05-28. </a:t>
            </a:r>
            <a:endParaRPr lang="en-US" dirty="0">
              <a:solidFill>
                <a:srgbClr val="000000"/>
              </a:solidFill>
              <a:ea typeface="+mn-lt"/>
              <a:cs typeface="+mn-lt"/>
            </a:endParaRPr>
          </a:p>
          <a:p>
            <a:r>
              <a:rPr lang="en-US" dirty="0" err="1">
                <a:ea typeface="+mn-lt"/>
                <a:cs typeface="+mn-lt"/>
              </a:rPr>
              <a:t>Openai</a:t>
            </a:r>
            <a:r>
              <a:rPr lang="en-US" dirty="0">
                <a:ea typeface="+mn-lt"/>
                <a:cs typeface="+mn-lt"/>
              </a:rPr>
              <a:t>(2023), AI classifier for detection, Accessed 04-06-2024, &lt;</a:t>
            </a:r>
            <a:r>
              <a:rPr lang="en-US" i="1" dirty="0">
                <a:ea typeface="+mn-lt"/>
                <a:cs typeface="+mn-lt"/>
              </a:rPr>
              <a:t>https://openai.com/index/new-ai-classifier-for-indicating-ai-written-text/</a:t>
            </a:r>
            <a:r>
              <a:rPr lang="en-US" dirty="0">
                <a:ea typeface="+mn-lt"/>
                <a:cs typeface="+mn-lt"/>
              </a:rPr>
              <a:t>&gt;</a:t>
            </a:r>
          </a:p>
          <a:p>
            <a:r>
              <a:rPr lang="en-US" dirty="0">
                <a:ea typeface="+mn-lt"/>
                <a:cs typeface="+mn-lt"/>
              </a:rPr>
              <a:t>The OpenAI GitHub repository (2024,  Accessed: 2024-05-28, &lt;https://github.com/openai&gt;</a:t>
            </a:r>
          </a:p>
        </p:txBody>
      </p:sp>
    </p:spTree>
    <p:extLst>
      <p:ext uri="{BB962C8B-B14F-4D97-AF65-F5344CB8AC3E}">
        <p14:creationId xmlns:p14="http://schemas.microsoft.com/office/powerpoint/2010/main" val="354781552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35</Slides>
  <Notes>0</Notes>
  <HiddenSlides>0</HiddenSlide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Retrospect</vt:lpstr>
      <vt:lpstr>Detect generated text from ChatGPT</vt:lpstr>
      <vt:lpstr>Project Introduction</vt:lpstr>
      <vt:lpstr>Objectives</vt:lpstr>
      <vt:lpstr>Planning</vt:lpstr>
      <vt:lpstr>Large Language Models Landscape</vt:lpstr>
      <vt:lpstr>LLM Detection</vt:lpstr>
      <vt:lpstr>OpenAI Classifier</vt:lpstr>
      <vt:lpstr>Data Gathering and Experiments</vt:lpstr>
      <vt:lpstr>Jaccard Similarity</vt:lpstr>
      <vt:lpstr>Cosine Similarity</vt:lpstr>
      <vt:lpstr>Retrieval-Augmented Generation (RAG)</vt:lpstr>
      <vt:lpstr>Design</vt:lpstr>
      <vt:lpstr>Design Tools Identified</vt:lpstr>
      <vt:lpstr>Design Framework</vt:lpstr>
      <vt:lpstr>Design Framework RAG</vt:lpstr>
      <vt:lpstr>Implementation</vt:lpstr>
      <vt:lpstr>Implementation Frameworks</vt:lpstr>
      <vt:lpstr>API Key to get a response </vt:lpstr>
      <vt:lpstr>Jaccard and Cosine</vt:lpstr>
      <vt:lpstr>RAG-Implementation</vt:lpstr>
      <vt:lpstr>Simple Demo</vt:lpstr>
      <vt:lpstr>Results</vt:lpstr>
      <vt:lpstr>Results</vt:lpstr>
      <vt:lpstr>Experimental Results</vt:lpstr>
      <vt:lpstr>Results</vt:lpstr>
      <vt:lpstr>Results RAG</vt:lpstr>
      <vt:lpstr>Experimental Results RAG</vt:lpstr>
      <vt:lpstr>Results RAG</vt:lpstr>
      <vt:lpstr>Model Comparison</vt:lpstr>
      <vt:lpstr>Model Comparison</vt:lpstr>
      <vt:lpstr>Evaluation</vt:lpstr>
      <vt:lpstr>Conclusion</vt:lpstr>
      <vt:lpstr>Future Work</vt:lpstr>
      <vt:lpstr>Questions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865</cp:revision>
  <dcterms:created xsi:type="dcterms:W3CDTF">2024-06-05T17:15:44Z</dcterms:created>
  <dcterms:modified xsi:type="dcterms:W3CDTF">2024-06-06T07:43:23Z</dcterms:modified>
</cp:coreProperties>
</file>